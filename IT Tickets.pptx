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6" r:id="rId5"/>
    <p:sldId id="309" r:id="rId6"/>
    <p:sldId id="310" r:id="rId7"/>
    <p:sldId id="311" r:id="rId8"/>
    <p:sldId id="313" r:id="rId9"/>
    <p:sldId id="314" r:id="rId10"/>
    <p:sldId id="316" r:id="rId11"/>
    <p:sldId id="317" r:id="rId12"/>
    <p:sldId id="318" r:id="rId13"/>
    <p:sldId id="319" r:id="rId14"/>
    <p:sldId id="320" r:id="rId15"/>
    <p:sldId id="324" r:id="rId16"/>
    <p:sldId id="323" r:id="rId17"/>
    <p:sldId id="325" r:id="rId18"/>
    <p:sldId id="326" r:id="rId19"/>
    <p:sldId id="329" r:id="rId20"/>
    <p:sldId id="327" r:id="rId21"/>
    <p:sldId id="328" r:id="rId22"/>
    <p:sldId id="30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D:\IT%20Ticket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IT%20Ticket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IT%20Ticket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IT%20Ticket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IT%20Ticket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IT%20Ticket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D:\IT%20Ticket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D:\IT%20Tickets.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Tickets.xlsx]Dashboard Pivot's!PivotTable13</c:name>
    <c:fmtId val="17"/>
  </c:pivotSource>
  <c:chart>
    <c:title>
      <c:tx>
        <c:rich>
          <a:bodyPr rot="0" spcFirstLastPara="1" vertOverflow="ellipsis" vert="horz" wrap="square" anchor="ctr" anchorCtr="1"/>
          <a:lstStyle/>
          <a:p>
            <a:pPr>
              <a:defRPr sz="1600" b="1" i="0" u="none" strike="noStrike" kern="1200" spc="100" baseline="0">
                <a:solidFill>
                  <a:srgbClr val="3E2723"/>
                </a:solidFill>
                <a:effectLst>
                  <a:outerShdw blurRad="50800" dist="38100" dir="5400000" algn="t" rotWithShape="0">
                    <a:prstClr val="black">
                      <a:alpha val="40000"/>
                    </a:prstClr>
                  </a:outerShdw>
                </a:effectLst>
                <a:latin typeface="Segoe UI Semibold" panose="020B0702040204020203" pitchFamily="34" charset="0"/>
                <a:ea typeface="+mn-ea"/>
                <a:cs typeface="Segoe UI Semibold" panose="020B0702040204020203" pitchFamily="34" charset="0"/>
              </a:defRPr>
            </a:pPr>
            <a:r>
              <a:rPr lang="en-US">
                <a:solidFill>
                  <a:srgbClr val="3E2723"/>
                </a:solidFill>
                <a:latin typeface="Segoe UI Semibold" panose="020B0702040204020203" pitchFamily="34" charset="0"/>
                <a:cs typeface="Segoe UI Semibold" panose="020B0702040204020203" pitchFamily="34" charset="0"/>
              </a:rPr>
              <a:t>Tickets by Request category</a:t>
            </a:r>
          </a:p>
        </c:rich>
      </c:tx>
      <c:overlay val="0"/>
      <c:spPr>
        <a:noFill/>
        <a:ln>
          <a:noFill/>
        </a:ln>
        <a:effectLst/>
      </c:spPr>
      <c:txPr>
        <a:bodyPr rot="0" spcFirstLastPara="1" vertOverflow="ellipsis" vert="horz" wrap="square" anchor="ctr" anchorCtr="1"/>
        <a:lstStyle/>
        <a:p>
          <a:pPr>
            <a:defRPr sz="1600" b="1" i="0" u="none" strike="noStrike" kern="1200" spc="100" baseline="0">
              <a:solidFill>
                <a:srgbClr val="3E2723"/>
              </a:solidFill>
              <a:effectLst>
                <a:outerShdw blurRad="50800" dist="38100" dir="5400000" algn="t" rotWithShape="0">
                  <a:prstClr val="black">
                    <a:alpha val="40000"/>
                  </a:prstClr>
                </a:outerShdw>
              </a:effectLst>
              <a:latin typeface="Segoe UI Semibold" panose="020B0702040204020203" pitchFamily="34" charset="0"/>
              <a:ea typeface="+mn-ea"/>
              <a:cs typeface="Segoe UI Semibold" panose="020B0702040204020203" pitchFamily="34" charset="0"/>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rgbClr val="5D4037"/>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EF6C5B"/>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pivotFmt>
      <c:pivotFmt>
        <c:idx val="4"/>
        <c:spPr>
          <a:solidFill>
            <a:srgbClr val="7CB34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pivotFmt>
      <c:pivotFmt>
        <c:idx val="5"/>
        <c:spPr>
          <a:solidFill>
            <a:srgbClr val="F4B400"/>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pivotFmt>
      <c:pivotFmt>
        <c:idx val="6"/>
        <c:spPr>
          <a:solidFill>
            <a:srgbClr val="E67E2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rgbClr val="5D4037"/>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EF6C5B"/>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pivotFmt>
      <c:pivotFmt>
        <c:idx val="9"/>
        <c:spPr>
          <a:solidFill>
            <a:srgbClr val="7CB34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pivotFmt>
      <c:pivotFmt>
        <c:idx val="10"/>
        <c:spPr>
          <a:solidFill>
            <a:srgbClr val="F4B400"/>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pivotFmt>
      <c:pivotFmt>
        <c:idx val="11"/>
        <c:spPr>
          <a:solidFill>
            <a:srgbClr val="E67E2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rgbClr val="5D4037"/>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rgbClr val="EF6C5B"/>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pivotFmt>
      <c:pivotFmt>
        <c:idx val="14"/>
        <c:spPr>
          <a:solidFill>
            <a:srgbClr val="7CB34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pivotFmt>
      <c:pivotFmt>
        <c:idx val="15"/>
        <c:spPr>
          <a:solidFill>
            <a:srgbClr val="F4B400"/>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pivotFmt>
      <c:pivotFmt>
        <c:idx val="16"/>
        <c:spPr>
          <a:solidFill>
            <a:srgbClr val="E67E2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pivotFmt>
    </c:pivotFmts>
    <c:plotArea>
      <c:layout/>
      <c:pieChart>
        <c:varyColors val="1"/>
        <c:ser>
          <c:idx val="0"/>
          <c:order val="0"/>
          <c:tx>
            <c:strRef>
              <c:f>'Dashboard Pivot''s'!$E$1</c:f>
              <c:strCache>
                <c:ptCount val="1"/>
                <c:pt idx="0">
                  <c:v>Total</c:v>
                </c:pt>
              </c:strCache>
            </c:strRef>
          </c:tx>
          <c:explosion val="27"/>
          <c:dPt>
            <c:idx val="0"/>
            <c:bubble3D val="0"/>
            <c:explosion val="25"/>
            <c:spPr>
              <a:solidFill>
                <a:srgbClr val="EF6C5B"/>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extLst>
              <c:ext xmlns:c16="http://schemas.microsoft.com/office/drawing/2014/chart" uri="{C3380CC4-5D6E-409C-BE32-E72D297353CC}">
                <c16:uniqueId val="{00000001-80C9-4D16-A627-4D7F3A24D94F}"/>
              </c:ext>
            </c:extLst>
          </c:dPt>
          <c:dPt>
            <c:idx val="1"/>
            <c:bubble3D val="0"/>
            <c:explosion val="0"/>
            <c:spPr>
              <a:solidFill>
                <a:srgbClr val="7CB34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extLst>
              <c:ext xmlns:c16="http://schemas.microsoft.com/office/drawing/2014/chart" uri="{C3380CC4-5D6E-409C-BE32-E72D297353CC}">
                <c16:uniqueId val="{00000003-80C9-4D16-A627-4D7F3A24D94F}"/>
              </c:ext>
            </c:extLst>
          </c:dPt>
          <c:dPt>
            <c:idx val="2"/>
            <c:bubble3D val="0"/>
            <c:explosion val="0"/>
            <c:spPr>
              <a:solidFill>
                <a:srgbClr val="F4B400"/>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extLst>
              <c:ext xmlns:c16="http://schemas.microsoft.com/office/drawing/2014/chart" uri="{C3380CC4-5D6E-409C-BE32-E72D297353CC}">
                <c16:uniqueId val="{00000005-80C9-4D16-A627-4D7F3A24D94F}"/>
              </c:ext>
            </c:extLst>
          </c:dPt>
          <c:dPt>
            <c:idx val="3"/>
            <c:bubble3D val="0"/>
            <c:explosion val="0"/>
            <c:spPr>
              <a:solidFill>
                <a:srgbClr val="E67E2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extLst>
              <c:ext xmlns:c16="http://schemas.microsoft.com/office/drawing/2014/chart" uri="{C3380CC4-5D6E-409C-BE32-E72D297353CC}">
                <c16:uniqueId val="{00000007-80C9-4D16-A627-4D7F3A24D94F}"/>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rgbClr val="5D4037"/>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a:solidFill>
                    <a:schemeClr val="lt1">
                      <a:lumMod val="95000"/>
                      <a:alpha val="54000"/>
                    </a:schemeClr>
                  </a:solidFill>
                </a:ln>
                <a:effectLst/>
              </c:spPr>
            </c:leaderLines>
            <c:extLst>
              <c:ext xmlns:c15="http://schemas.microsoft.com/office/drawing/2012/chart" uri="{CE6537A1-D6FC-4f65-9D91-7224C49458BB}"/>
            </c:extLst>
          </c:dLbls>
          <c:cat>
            <c:strRef>
              <c:f>'Dashboard Pivot''s'!$D$2:$D$6</c:f>
              <c:strCache>
                <c:ptCount val="4"/>
                <c:pt idx="0">
                  <c:v>Hardware</c:v>
                </c:pt>
                <c:pt idx="1">
                  <c:v>Login Access</c:v>
                </c:pt>
                <c:pt idx="2">
                  <c:v>Software</c:v>
                </c:pt>
                <c:pt idx="3">
                  <c:v>System</c:v>
                </c:pt>
              </c:strCache>
            </c:strRef>
          </c:cat>
          <c:val>
            <c:numRef>
              <c:f>'Dashboard Pivot''s'!$E$2:$E$6</c:f>
              <c:numCache>
                <c:formatCode>#,##0</c:formatCode>
                <c:ptCount val="4"/>
                <c:pt idx="0">
                  <c:v>9733</c:v>
                </c:pt>
                <c:pt idx="1">
                  <c:v>29193</c:v>
                </c:pt>
                <c:pt idx="2">
                  <c:v>19570</c:v>
                </c:pt>
                <c:pt idx="3">
                  <c:v>39002</c:v>
                </c:pt>
              </c:numCache>
            </c:numRef>
          </c:val>
          <c:extLst>
            <c:ext xmlns:c16="http://schemas.microsoft.com/office/drawing/2014/chart" uri="{C3380CC4-5D6E-409C-BE32-E72D297353CC}">
              <c16:uniqueId val="{00000008-80C9-4D16-A627-4D7F3A24D94F}"/>
            </c:ext>
          </c:extLst>
        </c:ser>
        <c:dLbls>
          <c:showLegendKey val="0"/>
          <c:showVal val="0"/>
          <c:showCatName val="0"/>
          <c:showSerName val="0"/>
          <c:showPercent val="0"/>
          <c:showBubbleSize val="0"/>
          <c:showLeaderLines val="1"/>
        </c:dLbls>
        <c:firstSliceAng val="0"/>
      </c:pieChart>
      <c:spPr>
        <a:solidFill>
          <a:srgbClr val="EAEAEA"/>
        </a:solid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rgbClr val="5D4037"/>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8F0"/>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Tickets.xlsx]Dashboard Pivot's!PivotTable16</c:name>
    <c:fmtId val="21"/>
  </c:pivotSource>
  <c:chart>
    <c:title>
      <c:tx>
        <c:rich>
          <a:bodyPr rot="0" spcFirstLastPara="1" vertOverflow="ellipsis" vert="horz" wrap="square" anchor="ctr" anchorCtr="1"/>
          <a:lstStyle/>
          <a:p>
            <a:pPr>
              <a:defRPr sz="1600" b="1" i="0" u="none" strike="noStrike" kern="1200" spc="100" baseline="0">
                <a:solidFill>
                  <a:srgbClr val="3E2723"/>
                </a:solidFill>
                <a:effectLst>
                  <a:outerShdw blurRad="50800" dist="38100" dir="5400000" algn="t" rotWithShape="0">
                    <a:prstClr val="black">
                      <a:alpha val="40000"/>
                    </a:prstClr>
                  </a:outerShdw>
                </a:effectLst>
                <a:latin typeface="Segoe UI Semibold" panose="020B0702040204020203" pitchFamily="34" charset="0"/>
                <a:ea typeface="+mn-ea"/>
                <a:cs typeface="Segoe UI Semibold" panose="020B0702040204020203" pitchFamily="34" charset="0"/>
              </a:defRPr>
            </a:pPr>
            <a:r>
              <a:rPr lang="en-US">
                <a:solidFill>
                  <a:srgbClr val="3E2723"/>
                </a:solidFill>
                <a:latin typeface="Segoe UI Semibold" panose="020B0702040204020203" pitchFamily="34" charset="0"/>
                <a:cs typeface="Segoe UI Semibold" panose="020B0702040204020203" pitchFamily="34" charset="0"/>
              </a:rPr>
              <a:t>Saatisfaction by age group</a:t>
            </a:r>
          </a:p>
        </c:rich>
      </c:tx>
      <c:overlay val="0"/>
      <c:spPr>
        <a:noFill/>
        <a:ln>
          <a:noFill/>
        </a:ln>
        <a:effectLst/>
      </c:spPr>
      <c:txPr>
        <a:bodyPr rot="0" spcFirstLastPara="1" vertOverflow="ellipsis" vert="horz" wrap="square" anchor="ctr" anchorCtr="1"/>
        <a:lstStyle/>
        <a:p>
          <a:pPr>
            <a:defRPr sz="1600" b="1" i="0" u="none" strike="noStrike" kern="1200" spc="100" baseline="0">
              <a:solidFill>
                <a:srgbClr val="3E2723"/>
              </a:solidFill>
              <a:effectLst>
                <a:outerShdw blurRad="50800" dist="38100" dir="5400000" algn="t" rotWithShape="0">
                  <a:prstClr val="black">
                    <a:alpha val="40000"/>
                  </a:prstClr>
                </a:outerShdw>
              </a:effectLst>
              <a:latin typeface="Segoe UI Semibold" panose="020B0702040204020203" pitchFamily="34" charset="0"/>
              <a:ea typeface="+mn-ea"/>
              <a:cs typeface="Segoe UI Semibold" panose="020B0702040204020203" pitchFamily="34" charset="0"/>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E67E2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rgbClr val="5D4037"/>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E67E2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rgbClr val="5D4037"/>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E67E2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rgbClr val="5D4037"/>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'Dashboard Pivot''s'!$E$36</c:f>
              <c:strCache>
                <c:ptCount val="1"/>
                <c:pt idx="0">
                  <c:v>Total</c:v>
                </c:pt>
              </c:strCache>
            </c:strRef>
          </c:tx>
          <c:spPr>
            <a:solidFill>
              <a:srgbClr val="E67E2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rgbClr val="5D4037"/>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'Dashboard Pivot''s'!$D$37:$D$43</c:f>
              <c:strCache>
                <c:ptCount val="6"/>
                <c:pt idx="0">
                  <c:v>29-33</c:v>
                </c:pt>
                <c:pt idx="1">
                  <c:v>34-38</c:v>
                </c:pt>
                <c:pt idx="2">
                  <c:v>39-43</c:v>
                </c:pt>
                <c:pt idx="3">
                  <c:v>44-48</c:v>
                </c:pt>
                <c:pt idx="4">
                  <c:v>49-53</c:v>
                </c:pt>
                <c:pt idx="5">
                  <c:v>54-58</c:v>
                </c:pt>
              </c:strCache>
            </c:strRef>
          </c:cat>
          <c:val>
            <c:numRef>
              <c:f>'Dashboard Pivot''s'!$E$37:$E$43</c:f>
              <c:numCache>
                <c:formatCode>0.00</c:formatCode>
                <c:ptCount val="6"/>
                <c:pt idx="0">
                  <c:v>4.2099816888813182</c:v>
                </c:pt>
                <c:pt idx="1">
                  <c:v>3.9551008390990727</c:v>
                </c:pt>
                <c:pt idx="2">
                  <c:v>4.1136406220723254</c:v>
                </c:pt>
                <c:pt idx="3">
                  <c:v>3.9987648010903825</c:v>
                </c:pt>
                <c:pt idx="4">
                  <c:v>4.1323996906950766</c:v>
                </c:pt>
                <c:pt idx="5">
                  <c:v>4.3920282542885971</c:v>
                </c:pt>
              </c:numCache>
            </c:numRef>
          </c:val>
          <c:extLst>
            <c:ext xmlns:c16="http://schemas.microsoft.com/office/drawing/2014/chart" uri="{C3380CC4-5D6E-409C-BE32-E72D297353CC}">
              <c16:uniqueId val="{00000000-5846-4631-8238-157820D06F51}"/>
            </c:ext>
          </c:extLst>
        </c:ser>
        <c:dLbls>
          <c:dLblPos val="outEnd"/>
          <c:showLegendKey val="0"/>
          <c:showVal val="1"/>
          <c:showCatName val="0"/>
          <c:showSerName val="0"/>
          <c:showPercent val="0"/>
          <c:showBubbleSize val="0"/>
        </c:dLbls>
        <c:gapWidth val="115"/>
        <c:overlap val="-20"/>
        <c:axId val="1387518320"/>
        <c:axId val="1145076368"/>
      </c:barChart>
      <c:catAx>
        <c:axId val="1387518320"/>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200" b="0" i="0" u="none" strike="noStrike" kern="1200" baseline="0">
                <a:solidFill>
                  <a:srgbClr val="666666"/>
                </a:solidFill>
                <a:latin typeface="+mn-lt"/>
                <a:ea typeface="+mn-ea"/>
                <a:cs typeface="+mn-cs"/>
              </a:defRPr>
            </a:pPr>
            <a:endParaRPr lang="en-US"/>
          </a:p>
        </c:txPr>
        <c:crossAx val="1145076368"/>
        <c:crosses val="autoZero"/>
        <c:auto val="1"/>
        <c:lblAlgn val="ctr"/>
        <c:lblOffset val="100"/>
        <c:noMultiLvlLbl val="0"/>
      </c:catAx>
      <c:valAx>
        <c:axId val="1145076368"/>
        <c:scaling>
          <c:orientation val="minMax"/>
        </c:scaling>
        <c:delete val="0"/>
        <c:axPos val="b"/>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rgbClr val="666666"/>
                </a:solidFill>
                <a:latin typeface="+mn-lt"/>
                <a:ea typeface="+mn-ea"/>
                <a:cs typeface="+mn-cs"/>
              </a:defRPr>
            </a:pPr>
            <a:endParaRPr lang="en-US"/>
          </a:p>
        </c:txPr>
        <c:crossAx val="1387518320"/>
        <c:crosses val="autoZero"/>
        <c:crossBetween val="between"/>
      </c:valAx>
      <c:spPr>
        <a:solidFill>
          <a:srgbClr val="EAEAEA"/>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8F0"/>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Tickets.xlsx]Dashboard Pivot's!PivotTable18</c:name>
    <c:fmtId val="37"/>
  </c:pivotSource>
  <c:chart>
    <c:title>
      <c:tx>
        <c:rich>
          <a:bodyPr rot="0" spcFirstLastPara="1" vertOverflow="ellipsis" vert="horz" wrap="square" anchor="ctr" anchorCtr="1"/>
          <a:lstStyle/>
          <a:p>
            <a:pPr>
              <a:defRPr sz="1600" b="1" i="0" u="none" strike="noStrike" kern="1200" spc="100" baseline="0">
                <a:solidFill>
                  <a:srgbClr val="5D4037"/>
                </a:solidFill>
                <a:effectLst>
                  <a:outerShdw blurRad="50800" dist="38100" dir="5400000" algn="t" rotWithShape="0">
                    <a:prstClr val="black">
                      <a:alpha val="40000"/>
                    </a:prstClr>
                  </a:outerShdw>
                </a:effectLst>
                <a:latin typeface="Segoe UI Semibold" panose="020B0702040204020203" pitchFamily="34" charset="0"/>
                <a:ea typeface="+mn-ea"/>
                <a:cs typeface="Segoe UI Semibold" panose="020B0702040204020203" pitchFamily="34" charset="0"/>
              </a:defRPr>
            </a:pPr>
            <a:r>
              <a:rPr lang="en-US">
                <a:solidFill>
                  <a:srgbClr val="5D4037"/>
                </a:solidFill>
                <a:latin typeface="Segoe UI Semibold" panose="020B0702040204020203" pitchFamily="34" charset="0"/>
                <a:cs typeface="Segoe UI Semibold" panose="020B0702040204020203" pitchFamily="34" charset="0"/>
              </a:rPr>
              <a:t>Tickets by satisfaction score</a:t>
            </a:r>
          </a:p>
        </c:rich>
      </c:tx>
      <c:overlay val="0"/>
      <c:spPr>
        <a:noFill/>
        <a:ln>
          <a:noFill/>
        </a:ln>
        <a:effectLst/>
      </c:spPr>
      <c:txPr>
        <a:bodyPr rot="0" spcFirstLastPara="1" vertOverflow="ellipsis" vert="horz" wrap="square" anchor="ctr" anchorCtr="1"/>
        <a:lstStyle/>
        <a:p>
          <a:pPr>
            <a:defRPr sz="1600" b="1" i="0" u="none" strike="noStrike" kern="1200" spc="100" baseline="0">
              <a:solidFill>
                <a:srgbClr val="5D4037"/>
              </a:solidFill>
              <a:effectLst>
                <a:outerShdw blurRad="50800" dist="38100" dir="5400000" algn="t" rotWithShape="0">
                  <a:prstClr val="black">
                    <a:alpha val="40000"/>
                  </a:prstClr>
                </a:outerShdw>
              </a:effectLst>
              <a:latin typeface="Segoe UI Semibold" panose="020B0702040204020203" pitchFamily="34" charset="0"/>
              <a:ea typeface="+mn-ea"/>
              <a:cs typeface="Segoe UI Semibold" panose="020B0702040204020203" pitchFamily="34" charset="0"/>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pivotFmt>
      <c:pivotFmt>
        <c:idx val="3"/>
      </c:pivotFmt>
      <c:pivotFmt>
        <c:idx val="4"/>
      </c:pivotFmt>
      <c:pivotFmt>
        <c:idx val="5"/>
      </c:pivotFmt>
      <c:pivotFmt>
        <c:idx val="6"/>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3498DB"/>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dLbl>
          <c:idx val="0"/>
          <c:layout>
            <c:manualLayout>
              <c:x val="6.1085778060457601E-3"/>
              <c:y val="-9.164282389785075E-2"/>
            </c:manualLayout>
          </c:layout>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rgbClr val="E67E2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dLbl>
          <c:idx val="0"/>
          <c:layout>
            <c:manualLayout>
              <c:x val="3.2579081632243982E-2"/>
              <c:y val="-7.3314259118280573E-2"/>
            </c:manualLayout>
          </c:layout>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rgbClr val="F4B400"/>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dLbl>
          <c:idx val="0"/>
          <c:layout>
            <c:manualLayout>
              <c:x val="4.4796237244335499E-2"/>
              <c:y val="-4.1239270754032782E-2"/>
            </c:manualLayout>
          </c:layout>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rgbClr val="8E44AD"/>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dLbl>
          <c:idx val="0"/>
          <c:layout>
            <c:manualLayout>
              <c:x val="5.0904815050381337E-2"/>
              <c:y val="5.9567835533603057E-2"/>
            </c:manualLayout>
          </c:layout>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2"/>
        <c:spPr>
          <a:solidFill>
            <a:srgbClr val="27AE60"/>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dLbl>
          <c:idx val="0"/>
          <c:layout>
            <c:manualLayout>
              <c:x val="-4.6832429846350832E-2"/>
              <c:y val="0"/>
            </c:manualLayout>
          </c:layout>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4"/>
        <c:spPr>
          <a:solidFill>
            <a:srgbClr val="3498DB"/>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dLbl>
          <c:idx val="0"/>
          <c:layout>
            <c:manualLayout>
              <c:x val="6.1085778060457601E-3"/>
              <c:y val="-9.164282389785075E-2"/>
            </c:manualLayout>
          </c:layout>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5"/>
        <c:spPr>
          <a:solidFill>
            <a:srgbClr val="E67E2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dLbl>
          <c:idx val="0"/>
          <c:layout>
            <c:manualLayout>
              <c:x val="3.2579081632243982E-2"/>
              <c:y val="-7.3314259118280573E-2"/>
            </c:manualLayout>
          </c:layout>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6"/>
        <c:spPr>
          <a:solidFill>
            <a:srgbClr val="F4B400"/>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dLbl>
          <c:idx val="0"/>
          <c:layout>
            <c:manualLayout>
              <c:x val="4.4796237244335499E-2"/>
              <c:y val="-4.1239270754032782E-2"/>
            </c:manualLayout>
          </c:layout>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7"/>
        <c:spPr>
          <a:solidFill>
            <a:srgbClr val="8E44AD"/>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dLbl>
          <c:idx val="0"/>
          <c:layout>
            <c:manualLayout>
              <c:x val="5.0904815050381337E-2"/>
              <c:y val="5.9567835533603057E-2"/>
            </c:manualLayout>
          </c:layout>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8"/>
        <c:spPr>
          <a:solidFill>
            <a:srgbClr val="27AE60"/>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dLbl>
          <c:idx val="0"/>
          <c:layout>
            <c:manualLayout>
              <c:x val="-4.6832429846350832E-2"/>
              <c:y val="0"/>
            </c:manualLayout>
          </c:layout>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0"/>
        <c:spPr>
          <a:solidFill>
            <a:srgbClr val="3498DB"/>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dLbl>
          <c:idx val="0"/>
          <c:layout>
            <c:manualLayout>
              <c:x val="6.1085778060457601E-3"/>
              <c:y val="-9.164282389785075E-2"/>
            </c:manualLayout>
          </c:layout>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1"/>
        <c:spPr>
          <a:solidFill>
            <a:srgbClr val="E67E2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dLbl>
          <c:idx val="0"/>
          <c:layout>
            <c:manualLayout>
              <c:x val="3.2579081632243982E-2"/>
              <c:y val="-7.3314259118280573E-2"/>
            </c:manualLayout>
          </c:layout>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2"/>
        <c:spPr>
          <a:solidFill>
            <a:srgbClr val="F4B400"/>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dLbl>
          <c:idx val="0"/>
          <c:layout>
            <c:manualLayout>
              <c:x val="4.4796237244335499E-2"/>
              <c:y val="-4.1239270754032782E-2"/>
            </c:manualLayout>
          </c:layout>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3"/>
        <c:spPr>
          <a:solidFill>
            <a:srgbClr val="8E44AD"/>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dLbl>
          <c:idx val="0"/>
          <c:layout>
            <c:manualLayout>
              <c:x val="5.0904815050381337E-2"/>
              <c:y val="5.9567835533603057E-2"/>
            </c:manualLayout>
          </c:layout>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4"/>
        <c:spPr>
          <a:solidFill>
            <a:srgbClr val="27AE60"/>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dLbl>
          <c:idx val="0"/>
          <c:layout>
            <c:manualLayout>
              <c:x val="-4.6832429846350832E-2"/>
              <c:y val="0"/>
            </c:manualLayout>
          </c:layout>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doughnutChart>
        <c:varyColors val="1"/>
        <c:ser>
          <c:idx val="0"/>
          <c:order val="0"/>
          <c:tx>
            <c:strRef>
              <c:f>'Dashboard Pivot''s'!$E$56</c:f>
              <c:strCache>
                <c:ptCount val="1"/>
                <c:pt idx="0">
                  <c:v>Total</c:v>
                </c:pt>
              </c:strCache>
            </c:strRef>
          </c:tx>
          <c:dPt>
            <c:idx val="0"/>
            <c:bubble3D val="0"/>
            <c:spPr>
              <a:solidFill>
                <a:srgbClr val="3498DB"/>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extLst>
              <c:ext xmlns:c16="http://schemas.microsoft.com/office/drawing/2014/chart" uri="{C3380CC4-5D6E-409C-BE32-E72D297353CC}">
                <c16:uniqueId val="{00000001-0004-464F-9333-73EBF6BBE80B}"/>
              </c:ext>
            </c:extLst>
          </c:dPt>
          <c:dPt>
            <c:idx val="1"/>
            <c:bubble3D val="0"/>
            <c:explosion val="34"/>
            <c:spPr>
              <a:solidFill>
                <a:srgbClr val="E67E2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extLst>
              <c:ext xmlns:c16="http://schemas.microsoft.com/office/drawing/2014/chart" uri="{C3380CC4-5D6E-409C-BE32-E72D297353CC}">
                <c16:uniqueId val="{00000003-0004-464F-9333-73EBF6BBE80B}"/>
              </c:ext>
            </c:extLst>
          </c:dPt>
          <c:dPt>
            <c:idx val="2"/>
            <c:bubble3D val="0"/>
            <c:spPr>
              <a:solidFill>
                <a:srgbClr val="F4B400"/>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extLst>
              <c:ext xmlns:c16="http://schemas.microsoft.com/office/drawing/2014/chart" uri="{C3380CC4-5D6E-409C-BE32-E72D297353CC}">
                <c16:uniqueId val="{00000005-0004-464F-9333-73EBF6BBE80B}"/>
              </c:ext>
            </c:extLst>
          </c:dPt>
          <c:dPt>
            <c:idx val="3"/>
            <c:bubble3D val="0"/>
            <c:spPr>
              <a:solidFill>
                <a:srgbClr val="8E44AD"/>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extLst>
              <c:ext xmlns:c16="http://schemas.microsoft.com/office/drawing/2014/chart" uri="{C3380CC4-5D6E-409C-BE32-E72D297353CC}">
                <c16:uniqueId val="{00000007-0004-464F-9333-73EBF6BBE80B}"/>
              </c:ext>
            </c:extLst>
          </c:dPt>
          <c:dPt>
            <c:idx val="4"/>
            <c:bubble3D val="0"/>
            <c:spPr>
              <a:solidFill>
                <a:srgbClr val="27AE60"/>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extLst>
              <c:ext xmlns:c16="http://schemas.microsoft.com/office/drawing/2014/chart" uri="{C3380CC4-5D6E-409C-BE32-E72D297353CC}">
                <c16:uniqueId val="{00000009-0004-464F-9333-73EBF6BBE80B}"/>
              </c:ext>
            </c:extLst>
          </c:dPt>
          <c:dLbls>
            <c:dLbl>
              <c:idx val="0"/>
              <c:layout>
                <c:manualLayout>
                  <c:x val="6.1085778060457601E-3"/>
                  <c:y val="-9.16428238978507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004-464F-9333-73EBF6BBE80B}"/>
                </c:ext>
              </c:extLst>
            </c:dLbl>
            <c:dLbl>
              <c:idx val="1"/>
              <c:layout>
                <c:manualLayout>
                  <c:x val="3.2579081632243982E-2"/>
                  <c:y val="-7.33142591182805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004-464F-9333-73EBF6BBE80B}"/>
                </c:ext>
              </c:extLst>
            </c:dLbl>
            <c:dLbl>
              <c:idx val="2"/>
              <c:layout>
                <c:manualLayout>
                  <c:x val="4.4796237244335499E-2"/>
                  <c:y val="-4.123927075403278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004-464F-9333-73EBF6BBE80B}"/>
                </c:ext>
              </c:extLst>
            </c:dLbl>
            <c:dLbl>
              <c:idx val="3"/>
              <c:layout>
                <c:manualLayout>
                  <c:x val="5.0904815050381337E-2"/>
                  <c:y val="5.956783553360305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004-464F-9333-73EBF6BBE80B}"/>
                </c:ext>
              </c:extLst>
            </c:dLbl>
            <c:dLbl>
              <c:idx val="4"/>
              <c:layout>
                <c:manualLayout>
                  <c:x val="-4.6832429846350832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0004-464F-9333-73EBF6BBE80B}"/>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rgbClr val="3E2723"/>
                    </a:solidFill>
                    <a:latin typeface="+mn-lt"/>
                    <a:ea typeface="+mn-ea"/>
                    <a:cs typeface="+mn-cs"/>
                  </a:defRPr>
                </a:pPr>
                <a:endParaRPr lang="en-US"/>
              </a:p>
            </c:txPr>
            <c:showLegendKey val="0"/>
            <c:showVal val="1"/>
            <c:showCatName val="0"/>
            <c:showSerName val="0"/>
            <c:showPercent val="0"/>
            <c:showBubbleSize val="0"/>
            <c:showLeaderLines val="1"/>
            <c:leaderLines>
              <c:spPr>
                <a:ln w="9525">
                  <a:solidFill>
                    <a:schemeClr val="lt1">
                      <a:lumMod val="95000"/>
                      <a:alpha val="54000"/>
                    </a:schemeClr>
                  </a:solidFill>
                </a:ln>
                <a:effectLst/>
              </c:spPr>
            </c:leaderLines>
            <c:extLst>
              <c:ext xmlns:c15="http://schemas.microsoft.com/office/drawing/2012/chart" uri="{CE6537A1-D6FC-4f65-9D91-7224C49458BB}"/>
            </c:extLst>
          </c:dLbls>
          <c:cat>
            <c:strRef>
              <c:f>'Dashboard Pivot''s'!$D$57:$D$62</c:f>
              <c:strCache>
                <c:ptCount val="5"/>
                <c:pt idx="0">
                  <c:v>1</c:v>
                </c:pt>
                <c:pt idx="1">
                  <c:v>2</c:v>
                </c:pt>
                <c:pt idx="2">
                  <c:v>3</c:v>
                </c:pt>
                <c:pt idx="3">
                  <c:v>4</c:v>
                </c:pt>
                <c:pt idx="4">
                  <c:v>5</c:v>
                </c:pt>
              </c:strCache>
            </c:strRef>
          </c:cat>
          <c:val>
            <c:numRef>
              <c:f>'Dashboard Pivot''s'!$E$57:$E$62</c:f>
              <c:numCache>
                <c:formatCode>0</c:formatCode>
                <c:ptCount val="5"/>
                <c:pt idx="0">
                  <c:v>9907</c:v>
                </c:pt>
                <c:pt idx="1">
                  <c:v>1977</c:v>
                </c:pt>
                <c:pt idx="2">
                  <c:v>7282</c:v>
                </c:pt>
                <c:pt idx="3">
                  <c:v>27562</c:v>
                </c:pt>
                <c:pt idx="4">
                  <c:v>50770</c:v>
                </c:pt>
              </c:numCache>
            </c:numRef>
          </c:val>
          <c:extLst>
            <c:ext xmlns:c16="http://schemas.microsoft.com/office/drawing/2014/chart" uri="{C3380CC4-5D6E-409C-BE32-E72D297353CC}">
              <c16:uniqueId val="{0000000A-0004-464F-9333-73EBF6BBE80B}"/>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rgbClr val="5D4037"/>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8F0"/>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Tickets.xlsx]Dashboard Pivot's!PivotTable19</c:name>
    <c:fmtId val="46"/>
  </c:pivotSource>
  <c:chart>
    <c:title>
      <c:tx>
        <c:rich>
          <a:bodyPr rot="0" spcFirstLastPara="1" vertOverflow="ellipsis" vert="horz" wrap="square" anchor="ctr" anchorCtr="1"/>
          <a:lstStyle/>
          <a:p>
            <a:pPr>
              <a:defRPr sz="1600" b="0" i="0" u="none" strike="noStrike" kern="1200" cap="none" spc="0" normalizeH="0" baseline="0">
                <a:solidFill>
                  <a:schemeClr val="tx1">
                    <a:lumMod val="65000"/>
                    <a:lumOff val="35000"/>
                  </a:schemeClr>
                </a:solidFill>
                <a:latin typeface="Segoe UI Semibold" panose="020B0702040204020203" pitchFamily="34" charset="0"/>
                <a:ea typeface="+mj-ea"/>
                <a:cs typeface="Segoe UI Semibold" panose="020B0702040204020203" pitchFamily="34" charset="0"/>
              </a:defRPr>
            </a:pPr>
            <a:r>
              <a:rPr lang="en-US" sz="1600" b="1">
                <a:solidFill>
                  <a:srgbClr val="3E2723"/>
                </a:solidFill>
                <a:latin typeface="Segoe UI Semibold" panose="020B0702040204020203" pitchFamily="34" charset="0"/>
                <a:cs typeface="Segoe UI Semibold" panose="020B0702040204020203" pitchFamily="34" charset="0"/>
              </a:rPr>
              <a:t>Resolution time vs ticket count</a:t>
            </a:r>
          </a:p>
        </c:rich>
      </c:tx>
      <c:overlay val="0"/>
      <c:spPr>
        <a:noFill/>
        <a:ln>
          <a:noFill/>
        </a:ln>
        <a:effectLst/>
      </c:spPr>
      <c:txPr>
        <a:bodyPr rot="0" spcFirstLastPara="1" vertOverflow="ellipsis" vert="horz" wrap="square" anchor="ctr" anchorCtr="1"/>
        <a:lstStyle/>
        <a:p>
          <a:pPr>
            <a:defRPr sz="1600" b="0" i="0" u="none" strike="noStrike" kern="1200" cap="none" spc="0" normalizeH="0" baseline="0">
              <a:solidFill>
                <a:schemeClr val="tx1">
                  <a:lumMod val="65000"/>
                  <a:lumOff val="35000"/>
                </a:schemeClr>
              </a:solidFill>
              <a:latin typeface="Segoe UI Semibold" panose="020B0702040204020203" pitchFamily="34" charset="0"/>
              <a:ea typeface="+mj-ea"/>
              <a:cs typeface="Segoe UI Semibold" panose="020B0702040204020203" pitchFamily="34" charset="0"/>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3498DB"/>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3498DB"/>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3498DB"/>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 Pivot''s'!$K$2</c:f>
              <c:strCache>
                <c:ptCount val="1"/>
                <c:pt idx="0">
                  <c:v>Total</c:v>
                </c:pt>
              </c:strCache>
            </c:strRef>
          </c:tx>
          <c:spPr>
            <a:solidFill>
              <a:srgbClr val="3498DB"/>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'Dashboard Pivot''s'!$J$3:$J$25</c:f>
              <c:strCache>
                <c:ptCount val="22"/>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strCache>
            </c:strRef>
          </c:cat>
          <c:val>
            <c:numRef>
              <c:f>'Dashboard Pivot''s'!$K$3:$K$25</c:f>
              <c:numCache>
                <c:formatCode>0</c:formatCode>
                <c:ptCount val="22"/>
                <c:pt idx="0">
                  <c:v>25071</c:v>
                </c:pt>
                <c:pt idx="1">
                  <c:v>9277</c:v>
                </c:pt>
                <c:pt idx="2">
                  <c:v>6466</c:v>
                </c:pt>
                <c:pt idx="3">
                  <c:v>6200</c:v>
                </c:pt>
                <c:pt idx="4">
                  <c:v>4919</c:v>
                </c:pt>
                <c:pt idx="5">
                  <c:v>8789</c:v>
                </c:pt>
                <c:pt idx="6">
                  <c:v>7802</c:v>
                </c:pt>
                <c:pt idx="7">
                  <c:v>6582</c:v>
                </c:pt>
                <c:pt idx="8">
                  <c:v>4850</c:v>
                </c:pt>
                <c:pt idx="9">
                  <c:v>3739</c:v>
                </c:pt>
                <c:pt idx="10">
                  <c:v>3899</c:v>
                </c:pt>
                <c:pt idx="11">
                  <c:v>1732</c:v>
                </c:pt>
                <c:pt idx="12">
                  <c:v>1555</c:v>
                </c:pt>
                <c:pt idx="13">
                  <c:v>1712</c:v>
                </c:pt>
                <c:pt idx="14">
                  <c:v>1566</c:v>
                </c:pt>
                <c:pt idx="15">
                  <c:v>1360</c:v>
                </c:pt>
                <c:pt idx="16">
                  <c:v>1167</c:v>
                </c:pt>
                <c:pt idx="17">
                  <c:v>554</c:v>
                </c:pt>
                <c:pt idx="18">
                  <c:v>124</c:v>
                </c:pt>
                <c:pt idx="19">
                  <c:v>130</c:v>
                </c:pt>
                <c:pt idx="20">
                  <c:v>2</c:v>
                </c:pt>
                <c:pt idx="21">
                  <c:v>2</c:v>
                </c:pt>
              </c:numCache>
            </c:numRef>
          </c:val>
          <c:extLst>
            <c:ext xmlns:c16="http://schemas.microsoft.com/office/drawing/2014/chart" uri="{C3380CC4-5D6E-409C-BE32-E72D297353CC}">
              <c16:uniqueId val="{00000000-0CAF-47A0-A55F-F3239977D21D}"/>
            </c:ext>
          </c:extLst>
        </c:ser>
        <c:dLbls>
          <c:dLblPos val="outEnd"/>
          <c:showLegendKey val="0"/>
          <c:showVal val="1"/>
          <c:showCatName val="0"/>
          <c:showSerName val="0"/>
          <c:showPercent val="0"/>
          <c:showBubbleSize val="0"/>
        </c:dLbls>
        <c:gapWidth val="199"/>
        <c:axId val="1379154528"/>
        <c:axId val="1145082608"/>
      </c:barChart>
      <c:catAx>
        <c:axId val="1379154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cap="none" spc="0" normalizeH="0" baseline="0">
                <a:solidFill>
                  <a:srgbClr val="666666"/>
                </a:solidFill>
                <a:latin typeface="+mn-lt"/>
                <a:ea typeface="+mn-ea"/>
                <a:cs typeface="+mn-cs"/>
              </a:defRPr>
            </a:pPr>
            <a:endParaRPr lang="en-US"/>
          </a:p>
        </c:txPr>
        <c:crossAx val="1145082608"/>
        <c:crosses val="autoZero"/>
        <c:auto val="1"/>
        <c:lblAlgn val="ctr"/>
        <c:lblOffset val="100"/>
        <c:noMultiLvlLbl val="0"/>
      </c:catAx>
      <c:valAx>
        <c:axId val="114508260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rgbClr val="666666"/>
                </a:solidFill>
                <a:latin typeface="+mn-lt"/>
                <a:ea typeface="+mn-ea"/>
                <a:cs typeface="+mn-cs"/>
              </a:defRPr>
            </a:pPr>
            <a:endParaRPr lang="en-US"/>
          </a:p>
        </c:txPr>
        <c:crossAx val="1379154528"/>
        <c:crosses val="autoZero"/>
        <c:crossBetween val="between"/>
      </c:valAx>
      <c:spPr>
        <a:solidFill>
          <a:srgbClr val="EAEAEA"/>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8F0"/>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Tickets.xlsx]Dashboard Pivot's!PivotTable17</c:name>
    <c:fmtId val="27"/>
  </c:pivotSource>
  <c:chart>
    <c:title>
      <c:tx>
        <c:rich>
          <a:bodyPr rot="0" spcFirstLastPara="1" vertOverflow="ellipsis" vert="horz" wrap="square" anchor="ctr" anchorCtr="1"/>
          <a:lstStyle/>
          <a:p>
            <a:pPr>
              <a:defRPr sz="1600" b="1" i="0" u="none" strike="noStrike" kern="1200" spc="100" baseline="0">
                <a:solidFill>
                  <a:srgbClr val="3E2723"/>
                </a:solidFill>
                <a:effectLst>
                  <a:outerShdw blurRad="50800" dist="38100" dir="5400000" algn="t" rotWithShape="0">
                    <a:prstClr val="black">
                      <a:alpha val="40000"/>
                    </a:prstClr>
                  </a:outerShdw>
                </a:effectLst>
                <a:latin typeface="Segoe UI Semibold" panose="020B0702040204020203" pitchFamily="34" charset="0"/>
                <a:ea typeface="+mn-ea"/>
                <a:cs typeface="Segoe UI Semibold" panose="020B0702040204020203" pitchFamily="34" charset="0"/>
              </a:defRPr>
            </a:pPr>
            <a:r>
              <a:rPr lang="en-IN">
                <a:solidFill>
                  <a:srgbClr val="3E2723"/>
                </a:solidFill>
                <a:latin typeface="Segoe UI Semibold" panose="020B0702040204020203" pitchFamily="34" charset="0"/>
                <a:cs typeface="Segoe UI Semibold" panose="020B0702040204020203" pitchFamily="34" charset="0"/>
              </a:rPr>
              <a:t>Serverity by tickets</a:t>
            </a:r>
          </a:p>
        </c:rich>
      </c:tx>
      <c:overlay val="0"/>
      <c:spPr>
        <a:noFill/>
        <a:ln>
          <a:noFill/>
        </a:ln>
        <a:effectLst/>
      </c:spPr>
      <c:txPr>
        <a:bodyPr rot="0" spcFirstLastPara="1" vertOverflow="ellipsis" vert="horz" wrap="square" anchor="ctr" anchorCtr="1"/>
        <a:lstStyle/>
        <a:p>
          <a:pPr>
            <a:defRPr sz="1600" b="1" i="0" u="none" strike="noStrike" kern="1200" spc="100" baseline="0">
              <a:solidFill>
                <a:srgbClr val="3E2723"/>
              </a:solidFill>
              <a:effectLst>
                <a:outerShdw blurRad="50800" dist="38100" dir="5400000" algn="t" rotWithShape="0">
                  <a:prstClr val="black">
                    <a:alpha val="40000"/>
                  </a:prstClr>
                </a:outerShdw>
              </a:effectLst>
              <a:latin typeface="Segoe UI Semibold" panose="020B0702040204020203" pitchFamily="34" charset="0"/>
              <a:ea typeface="+mn-ea"/>
              <a:cs typeface="Segoe UI Semibold" panose="020B0702040204020203" pitchFamily="34" charset="0"/>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rgbClr val="27AE60"/>
            </a:solidFill>
            <a:round/>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circle"/>
          <c:size val="6"/>
          <c:spPr>
            <a:solidFill>
              <a:srgbClr val="1E8449"/>
            </a:solidFill>
            <a:ln w="9525">
              <a:solidFill>
                <a:srgbClr val="27AE60"/>
              </a:solidFill>
              <a:round/>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5D4037"/>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rgbClr val="27AE60"/>
            </a:solidFill>
            <a:round/>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circle"/>
          <c:size val="6"/>
          <c:spPr>
            <a:solidFill>
              <a:srgbClr val="1E8449"/>
            </a:solidFill>
            <a:ln w="9525">
              <a:solidFill>
                <a:srgbClr val="27AE60"/>
              </a:solidFill>
              <a:round/>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5D4037"/>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hade val="85000"/>
                  <a:satMod val="130000"/>
                </a:schemeClr>
              </a:gs>
              <a:gs pos="34000">
                <a:schemeClr val="accent1">
                  <a:shade val="87000"/>
                  <a:satMod val="125000"/>
                </a:schemeClr>
              </a:gs>
              <a:gs pos="70000">
                <a:schemeClr val="accent1">
                  <a:tint val="100000"/>
                  <a:shade val="90000"/>
                  <a:satMod val="130000"/>
                </a:schemeClr>
              </a:gs>
              <a:gs pos="100000">
                <a:schemeClr val="accent1">
                  <a:tint val="100000"/>
                  <a:shade val="100000"/>
                  <a:satMod val="110000"/>
                </a:schemeClr>
              </a:gs>
            </a:gsLst>
            <a:path path="circle">
              <a:fillToRect l="100000" t="100000" r="100000" b="100000"/>
            </a:path>
          </a:gradFill>
          <a:ln w="34925" cap="rnd">
            <a:solidFill>
              <a:srgbClr val="27AE60"/>
            </a:solidFill>
            <a:round/>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circle"/>
          <c:size val="6"/>
          <c:spPr>
            <a:solidFill>
              <a:srgbClr val="1E8449"/>
            </a:solidFill>
            <a:ln w="9525">
              <a:solidFill>
                <a:srgbClr val="27AE60"/>
              </a:solidFill>
              <a:round/>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5D4037"/>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'Dashboard Pivot''s'!$E$47</c:f>
              <c:strCache>
                <c:ptCount val="1"/>
                <c:pt idx="0">
                  <c:v>Total</c:v>
                </c:pt>
              </c:strCache>
            </c:strRef>
          </c:tx>
          <c:spPr>
            <a:ln w="34925" cap="rnd">
              <a:solidFill>
                <a:srgbClr val="27AE60"/>
              </a:solidFill>
              <a:round/>
            </a:ln>
            <a:effectLst>
              <a:outerShdw blurRad="57150" dist="19050" dir="5400000" algn="ctr" rotWithShape="0">
                <a:srgbClr val="000000">
                  <a:alpha val="63000"/>
                </a:srgbClr>
              </a:outerShdw>
            </a:effectLst>
          </c:spPr>
          <c:marker>
            <c:symbol val="circle"/>
            <c:size val="6"/>
            <c:spPr>
              <a:solidFill>
                <a:srgbClr val="1E8449"/>
              </a:solidFill>
              <a:ln w="9525">
                <a:solidFill>
                  <a:srgbClr val="27AE60"/>
                </a:solidFill>
                <a:round/>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5D4037"/>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'Dashboard Pivot''s'!$D$48:$D$53</c:f>
              <c:strCache>
                <c:ptCount val="5"/>
                <c:pt idx="0">
                  <c:v>0 - Unclassified</c:v>
                </c:pt>
                <c:pt idx="1">
                  <c:v>1 - Minor</c:v>
                </c:pt>
                <c:pt idx="2">
                  <c:v>2 - Normal</c:v>
                </c:pt>
                <c:pt idx="3">
                  <c:v>3 - Major</c:v>
                </c:pt>
                <c:pt idx="4">
                  <c:v>4 - Urgent</c:v>
                </c:pt>
              </c:strCache>
            </c:strRef>
          </c:cat>
          <c:val>
            <c:numRef>
              <c:f>'Dashboard Pivot''s'!$E$48:$E$53</c:f>
              <c:numCache>
                <c:formatCode>0</c:formatCode>
                <c:ptCount val="5"/>
                <c:pt idx="0">
                  <c:v>356</c:v>
                </c:pt>
                <c:pt idx="1">
                  <c:v>2258</c:v>
                </c:pt>
                <c:pt idx="2">
                  <c:v>88656</c:v>
                </c:pt>
                <c:pt idx="3">
                  <c:v>4836</c:v>
                </c:pt>
                <c:pt idx="4">
                  <c:v>1392</c:v>
                </c:pt>
              </c:numCache>
            </c:numRef>
          </c:val>
          <c:smooth val="0"/>
          <c:extLst>
            <c:ext xmlns:c16="http://schemas.microsoft.com/office/drawing/2014/chart" uri="{C3380CC4-5D6E-409C-BE32-E72D297353CC}">
              <c16:uniqueId val="{00000000-84B3-4754-B8E7-FBD84CD26509}"/>
            </c:ext>
          </c:extLst>
        </c:ser>
        <c:dLbls>
          <c:dLblPos val="t"/>
          <c:showLegendKey val="0"/>
          <c:showVal val="1"/>
          <c:showCatName val="0"/>
          <c:showSerName val="0"/>
          <c:showPercent val="0"/>
          <c:showBubbleSize val="0"/>
        </c:dLbls>
        <c:marker val="1"/>
        <c:smooth val="0"/>
        <c:axId val="1425674576"/>
        <c:axId val="695486928"/>
      </c:lineChart>
      <c:catAx>
        <c:axId val="1425674576"/>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1050" b="0" i="0" u="none" strike="noStrike" kern="1200" baseline="0">
                <a:solidFill>
                  <a:srgbClr val="666666"/>
                </a:solidFill>
                <a:latin typeface="+mn-lt"/>
                <a:ea typeface="+mn-ea"/>
                <a:cs typeface="+mn-cs"/>
              </a:defRPr>
            </a:pPr>
            <a:endParaRPr lang="en-US"/>
          </a:p>
        </c:txPr>
        <c:crossAx val="695486928"/>
        <c:crosses val="autoZero"/>
        <c:auto val="1"/>
        <c:lblAlgn val="ctr"/>
        <c:lblOffset val="100"/>
        <c:noMultiLvlLbl val="0"/>
      </c:catAx>
      <c:valAx>
        <c:axId val="69548692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rgbClr val="666666"/>
                </a:solidFill>
                <a:latin typeface="+mn-lt"/>
                <a:ea typeface="+mn-ea"/>
                <a:cs typeface="+mn-cs"/>
              </a:defRPr>
            </a:pPr>
            <a:endParaRPr lang="en-US"/>
          </a:p>
        </c:txPr>
        <c:crossAx val="1425674576"/>
        <c:crosses val="autoZero"/>
        <c:crossBetween val="between"/>
      </c:valAx>
      <c:spPr>
        <a:solidFill>
          <a:srgbClr val="EAEAEA"/>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8F0"/>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Tickets.xlsx]Dashboard Pivot's!PivotTable15</c:name>
    <c:fmtId val="21"/>
  </c:pivotSource>
  <c:chart>
    <c:title>
      <c:tx>
        <c:rich>
          <a:bodyPr rot="0" spcFirstLastPara="1" vertOverflow="ellipsis" vert="horz" wrap="square" anchor="ctr" anchorCtr="1"/>
          <a:lstStyle/>
          <a:p>
            <a:pPr>
              <a:defRPr sz="1600" b="1" i="0" u="none" strike="noStrike" kern="1200" spc="100" baseline="0">
                <a:solidFill>
                  <a:srgbClr val="3E2723"/>
                </a:solidFill>
                <a:effectLst>
                  <a:outerShdw blurRad="50800" dist="38100" dir="5400000" algn="t" rotWithShape="0">
                    <a:prstClr val="black">
                      <a:alpha val="40000"/>
                    </a:prstClr>
                  </a:outerShdw>
                </a:effectLst>
                <a:latin typeface="Segoe UI Semibold" panose="020B0702040204020203" pitchFamily="34" charset="0"/>
                <a:ea typeface="+mn-ea"/>
                <a:cs typeface="Segoe UI Semibold" panose="020B0702040204020203" pitchFamily="34" charset="0"/>
              </a:defRPr>
            </a:pPr>
            <a:r>
              <a:rPr lang="en-US">
                <a:solidFill>
                  <a:srgbClr val="3E2723"/>
                </a:solidFill>
                <a:latin typeface="Segoe UI Semibold" panose="020B0702040204020203" pitchFamily="34" charset="0"/>
                <a:cs typeface="Segoe UI Semibold" panose="020B0702040204020203" pitchFamily="34" charset="0"/>
              </a:rPr>
              <a:t>Resolution time by category &amp; Quater</a:t>
            </a:r>
          </a:p>
        </c:rich>
      </c:tx>
      <c:overlay val="0"/>
      <c:spPr>
        <a:noFill/>
        <a:ln>
          <a:noFill/>
        </a:ln>
        <a:effectLst/>
      </c:spPr>
      <c:txPr>
        <a:bodyPr rot="0" spcFirstLastPara="1" vertOverflow="ellipsis" vert="horz" wrap="square" anchor="ctr" anchorCtr="1"/>
        <a:lstStyle/>
        <a:p>
          <a:pPr>
            <a:defRPr sz="1600" b="1" i="0" u="none" strike="noStrike" kern="1200" spc="100" baseline="0">
              <a:solidFill>
                <a:srgbClr val="3E2723"/>
              </a:solidFill>
              <a:effectLst>
                <a:outerShdw blurRad="50800" dist="38100" dir="5400000" algn="t" rotWithShape="0">
                  <a:prstClr val="black">
                    <a:alpha val="40000"/>
                  </a:prstClr>
                </a:outerShdw>
              </a:effectLst>
              <a:latin typeface="Segoe UI Semibold" panose="020B0702040204020203" pitchFamily="34" charset="0"/>
              <a:ea typeface="+mn-ea"/>
              <a:cs typeface="Segoe UI Semibold" panose="020B0702040204020203" pitchFamily="34" charset="0"/>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E67E2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E67E2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E67E2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 Pivot''s'!$E$11</c:f>
              <c:strCache>
                <c:ptCount val="1"/>
                <c:pt idx="0">
                  <c:v>Total</c:v>
                </c:pt>
              </c:strCache>
            </c:strRef>
          </c:tx>
          <c:spPr>
            <a:solidFill>
              <a:srgbClr val="E67E2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rgbClr val="3E2723"/>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'Dashboard Pivot''s'!$D$12:$D$32</c:f>
              <c:multiLvlStrCache>
                <c:ptCount val="16"/>
                <c:lvl>
                  <c:pt idx="0">
                    <c:v>Qtr1</c:v>
                  </c:pt>
                  <c:pt idx="1">
                    <c:v>Qtr2</c:v>
                  </c:pt>
                  <c:pt idx="2">
                    <c:v>Qtr3</c:v>
                  </c:pt>
                  <c:pt idx="3">
                    <c:v>Qtr4</c:v>
                  </c:pt>
                  <c:pt idx="4">
                    <c:v>Qtr1</c:v>
                  </c:pt>
                  <c:pt idx="5">
                    <c:v>Qtr2</c:v>
                  </c:pt>
                  <c:pt idx="6">
                    <c:v>Qtr3</c:v>
                  </c:pt>
                  <c:pt idx="7">
                    <c:v>Qtr4</c:v>
                  </c:pt>
                  <c:pt idx="8">
                    <c:v>Qtr1</c:v>
                  </c:pt>
                  <c:pt idx="9">
                    <c:v>Qtr2</c:v>
                  </c:pt>
                  <c:pt idx="10">
                    <c:v>Qtr3</c:v>
                  </c:pt>
                  <c:pt idx="11">
                    <c:v>Qtr4</c:v>
                  </c:pt>
                  <c:pt idx="12">
                    <c:v>Qtr1</c:v>
                  </c:pt>
                  <c:pt idx="13">
                    <c:v>Qtr2</c:v>
                  </c:pt>
                  <c:pt idx="14">
                    <c:v>Qtr3</c:v>
                  </c:pt>
                  <c:pt idx="15">
                    <c:v>Qtr4</c:v>
                  </c:pt>
                </c:lvl>
                <c:lvl>
                  <c:pt idx="0">
                    <c:v>Hardware</c:v>
                  </c:pt>
                  <c:pt idx="4">
                    <c:v>Login Access</c:v>
                  </c:pt>
                  <c:pt idx="8">
                    <c:v>Software</c:v>
                  </c:pt>
                  <c:pt idx="12">
                    <c:v>System</c:v>
                  </c:pt>
                </c:lvl>
              </c:multiLvlStrCache>
            </c:multiLvlStrRef>
          </c:cat>
          <c:val>
            <c:numRef>
              <c:f>'Dashboard Pivot''s'!$E$12:$E$32</c:f>
              <c:numCache>
                <c:formatCode>0.00</c:formatCode>
                <c:ptCount val="16"/>
                <c:pt idx="0">
                  <c:v>7.7437185929648242</c:v>
                </c:pt>
                <c:pt idx="1">
                  <c:v>7.6847290640394093</c:v>
                </c:pt>
                <c:pt idx="2">
                  <c:v>7.5285714285714285</c:v>
                </c:pt>
                <c:pt idx="3">
                  <c:v>7.5481903212688088</c:v>
                </c:pt>
                <c:pt idx="4">
                  <c:v>0.30982295830953743</c:v>
                </c:pt>
                <c:pt idx="5">
                  <c:v>0.32385814819925485</c:v>
                </c:pt>
                <c:pt idx="6">
                  <c:v>0.31265239772419401</c:v>
                </c:pt>
                <c:pt idx="7">
                  <c:v>0.30899470899470899</c:v>
                </c:pt>
                <c:pt idx="8">
                  <c:v>5.2396186440677965</c:v>
                </c:pt>
                <c:pt idx="9">
                  <c:v>5.2590348861499896</c:v>
                </c:pt>
                <c:pt idx="10">
                  <c:v>5.1592673700975515</c:v>
                </c:pt>
                <c:pt idx="11">
                  <c:v>5.2978174603174599</c:v>
                </c:pt>
                <c:pt idx="12">
                  <c:v>6.6398099146776106</c:v>
                </c:pt>
                <c:pt idx="13">
                  <c:v>6.642100935347929</c:v>
                </c:pt>
                <c:pt idx="14">
                  <c:v>6.5821828076186639</c:v>
                </c:pt>
                <c:pt idx="15">
                  <c:v>6.600733326726786</c:v>
                </c:pt>
              </c:numCache>
            </c:numRef>
          </c:val>
          <c:extLst>
            <c:ext xmlns:c16="http://schemas.microsoft.com/office/drawing/2014/chart" uri="{C3380CC4-5D6E-409C-BE32-E72D297353CC}">
              <c16:uniqueId val="{00000000-3E9B-406E-9432-166B9C331E80}"/>
            </c:ext>
          </c:extLst>
        </c:ser>
        <c:dLbls>
          <c:dLblPos val="outEnd"/>
          <c:showLegendKey val="0"/>
          <c:showVal val="1"/>
          <c:showCatName val="0"/>
          <c:showSerName val="0"/>
          <c:showPercent val="0"/>
          <c:showBubbleSize val="0"/>
        </c:dLbls>
        <c:gapWidth val="100"/>
        <c:overlap val="-24"/>
        <c:axId val="1379192112"/>
        <c:axId val="1145097968"/>
      </c:barChart>
      <c:catAx>
        <c:axId val="137919211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200" b="0" i="0" u="none" strike="noStrike" kern="1200" baseline="0">
                <a:solidFill>
                  <a:srgbClr val="666666"/>
                </a:solidFill>
                <a:latin typeface="+mn-lt"/>
                <a:ea typeface="+mn-ea"/>
                <a:cs typeface="+mn-cs"/>
              </a:defRPr>
            </a:pPr>
            <a:endParaRPr lang="en-US"/>
          </a:p>
        </c:txPr>
        <c:crossAx val="1145097968"/>
        <c:crosses val="autoZero"/>
        <c:auto val="1"/>
        <c:lblAlgn val="ctr"/>
        <c:lblOffset val="100"/>
        <c:noMultiLvlLbl val="0"/>
      </c:catAx>
      <c:valAx>
        <c:axId val="1145097968"/>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rgbClr val="666666"/>
                </a:solidFill>
                <a:latin typeface="+mn-lt"/>
                <a:ea typeface="+mn-ea"/>
                <a:cs typeface="+mn-cs"/>
              </a:defRPr>
            </a:pPr>
            <a:endParaRPr lang="en-US"/>
          </a:p>
        </c:txPr>
        <c:crossAx val="1379192112"/>
        <c:crosses val="autoZero"/>
        <c:crossBetween val="between"/>
      </c:valAx>
      <c:spPr>
        <a:solidFill>
          <a:srgbClr val="EAEAEA"/>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8F0"/>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Tickets.xlsx]Dashboard Pivot's!PivotTable14</c:name>
    <c:fmtId val="22"/>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Satisfaction by Month &amp; Year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noFill/>
          <a:ln w="22225" cap="rnd" cmpd="sng" algn="ctr">
            <a:solidFill>
              <a:srgbClr val="E67E22"/>
            </a:solidFill>
            <a:miter lim="800000"/>
          </a:ln>
          <a:effectLst>
            <a:glow rad="139700">
              <a:schemeClr val="accent1">
                <a:satMod val="175000"/>
                <a:alpha val="14000"/>
              </a:schemeClr>
            </a:glow>
          </a:effectLst>
        </c:spPr>
        <c:marker>
          <c:symbol val="circle"/>
          <c:size val="4"/>
          <c:spPr>
            <a:solidFill>
              <a:srgbClr val="D35400"/>
            </a:solidFill>
            <a:ln w="9525">
              <a:solidFill>
                <a:srgbClr val="E67E22"/>
              </a:solidFill>
            </a:ln>
            <a:effectLst>
              <a:glow rad="63500">
                <a:schemeClr val="accent1">
                  <a:satMod val="175000"/>
                  <a:alpha val="25000"/>
                </a:schemeClr>
              </a:glow>
            </a:effectLst>
          </c:spPr>
        </c:marker>
        <c:dLbl>
          <c:idx val="0"/>
          <c:spPr>
            <a:solidFill>
              <a:srgbClr val="EAEAEA"/>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5D4037"/>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noFill/>
          <a:ln w="22225" cap="rnd" cmpd="sng" algn="ctr">
            <a:solidFill>
              <a:srgbClr val="E67E22"/>
            </a:solidFill>
            <a:miter lim="800000"/>
          </a:ln>
          <a:effectLst>
            <a:glow rad="139700">
              <a:schemeClr val="accent1">
                <a:satMod val="175000"/>
                <a:alpha val="14000"/>
              </a:schemeClr>
            </a:glow>
          </a:effectLst>
        </c:spPr>
        <c:marker>
          <c:symbol val="circle"/>
          <c:size val="4"/>
          <c:spPr>
            <a:solidFill>
              <a:srgbClr val="D35400"/>
            </a:solidFill>
            <a:ln w="9525">
              <a:solidFill>
                <a:srgbClr val="E67E22"/>
              </a:solidFill>
            </a:ln>
            <a:effectLst>
              <a:glow rad="63500">
                <a:schemeClr val="accent1">
                  <a:satMod val="175000"/>
                  <a:alpha val="25000"/>
                </a:schemeClr>
              </a:glow>
            </a:effectLst>
          </c:spPr>
        </c:marker>
        <c:dLbl>
          <c:idx val="0"/>
          <c:spPr>
            <a:solidFill>
              <a:srgbClr val="EAEAEA"/>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5D4037"/>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noFill/>
          <a:ln w="22225" cap="rnd" cmpd="sng" algn="ctr">
            <a:solidFill>
              <a:srgbClr val="E67E22"/>
            </a:solidFill>
            <a:miter lim="800000"/>
          </a:ln>
          <a:effectLst>
            <a:glow rad="139700">
              <a:schemeClr val="accent1">
                <a:satMod val="175000"/>
                <a:alpha val="14000"/>
              </a:schemeClr>
            </a:glow>
          </a:effectLst>
        </c:spPr>
        <c:marker>
          <c:symbol val="circle"/>
          <c:size val="4"/>
          <c:spPr>
            <a:solidFill>
              <a:srgbClr val="D35400"/>
            </a:solidFill>
            <a:ln w="9525">
              <a:solidFill>
                <a:srgbClr val="E67E22"/>
              </a:solidFill>
            </a:ln>
            <a:effectLst>
              <a:glow rad="63500">
                <a:schemeClr val="accent1">
                  <a:satMod val="175000"/>
                  <a:alpha val="25000"/>
                </a:schemeClr>
              </a:glow>
            </a:effectLst>
          </c:spPr>
        </c:marker>
        <c:dLbl>
          <c:idx val="0"/>
          <c:spPr>
            <a:solidFill>
              <a:srgbClr val="EAEAEA"/>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5D4037"/>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'Dashboard Pivot''s'!$H$1</c:f>
              <c:strCache>
                <c:ptCount val="1"/>
                <c:pt idx="0">
                  <c:v>Total</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'Dashboard Pivot''s'!$G$2:$G$67</c:f>
              <c:multiLvlStrCache>
                <c:ptCount val="60"/>
                <c:lvl>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pt idx="17">
                    <c:v>Jun</c:v>
                  </c:pt>
                  <c:pt idx="18">
                    <c:v>Jul</c:v>
                  </c:pt>
                  <c:pt idx="19">
                    <c:v>Aug</c:v>
                  </c:pt>
                  <c:pt idx="20">
                    <c:v>Sep</c:v>
                  </c:pt>
                  <c:pt idx="21">
                    <c:v>Oct</c:v>
                  </c:pt>
                  <c:pt idx="22">
                    <c:v>Nov</c:v>
                  </c:pt>
                  <c:pt idx="23">
                    <c:v>Dec</c:v>
                  </c:pt>
                  <c:pt idx="24">
                    <c:v>Jan</c:v>
                  </c:pt>
                  <c:pt idx="25">
                    <c:v>Feb</c:v>
                  </c:pt>
                  <c:pt idx="26">
                    <c:v>Mar</c:v>
                  </c:pt>
                  <c:pt idx="27">
                    <c:v>Apr</c:v>
                  </c:pt>
                  <c:pt idx="28">
                    <c:v>May</c:v>
                  </c:pt>
                  <c:pt idx="29">
                    <c:v>Jun</c:v>
                  </c:pt>
                  <c:pt idx="30">
                    <c:v>Jul</c:v>
                  </c:pt>
                  <c:pt idx="31">
                    <c:v>Aug</c:v>
                  </c:pt>
                  <c:pt idx="32">
                    <c:v>Sep</c:v>
                  </c:pt>
                  <c:pt idx="33">
                    <c:v>Oct</c:v>
                  </c:pt>
                  <c:pt idx="34">
                    <c:v>Nov</c:v>
                  </c:pt>
                  <c:pt idx="35">
                    <c:v>Dec</c:v>
                  </c:pt>
                  <c:pt idx="36">
                    <c:v>Jan</c:v>
                  </c:pt>
                  <c:pt idx="37">
                    <c:v>Feb</c:v>
                  </c:pt>
                  <c:pt idx="38">
                    <c:v>Mar</c:v>
                  </c:pt>
                  <c:pt idx="39">
                    <c:v>Apr</c:v>
                  </c:pt>
                  <c:pt idx="40">
                    <c:v>May</c:v>
                  </c:pt>
                  <c:pt idx="41">
                    <c:v>Jun</c:v>
                  </c:pt>
                  <c:pt idx="42">
                    <c:v>Jul</c:v>
                  </c:pt>
                  <c:pt idx="43">
                    <c:v>Aug</c:v>
                  </c:pt>
                  <c:pt idx="44">
                    <c:v>Sep</c:v>
                  </c:pt>
                  <c:pt idx="45">
                    <c:v>Oct</c:v>
                  </c:pt>
                  <c:pt idx="46">
                    <c:v>Nov</c:v>
                  </c:pt>
                  <c:pt idx="47">
                    <c:v>Dec</c:v>
                  </c:pt>
                  <c:pt idx="48">
                    <c:v>Jan</c:v>
                  </c:pt>
                  <c:pt idx="49">
                    <c:v>Feb</c:v>
                  </c:pt>
                  <c:pt idx="50">
                    <c:v>Mar</c:v>
                  </c:pt>
                  <c:pt idx="51">
                    <c:v>Apr</c:v>
                  </c:pt>
                  <c:pt idx="52">
                    <c:v>May</c:v>
                  </c:pt>
                  <c:pt idx="53">
                    <c:v>Jun</c:v>
                  </c:pt>
                  <c:pt idx="54">
                    <c:v>Jul</c:v>
                  </c:pt>
                  <c:pt idx="55">
                    <c:v>Aug</c:v>
                  </c:pt>
                  <c:pt idx="56">
                    <c:v>Sep</c:v>
                  </c:pt>
                  <c:pt idx="57">
                    <c:v>Oct</c:v>
                  </c:pt>
                  <c:pt idx="58">
                    <c:v>Nov</c:v>
                  </c:pt>
                  <c:pt idx="59">
                    <c:v>Dec</c:v>
                  </c:pt>
                </c:lvl>
                <c:lvl>
                  <c:pt idx="0">
                    <c:v>2016</c:v>
                  </c:pt>
                  <c:pt idx="12">
                    <c:v>2017</c:v>
                  </c:pt>
                  <c:pt idx="24">
                    <c:v>2018</c:v>
                  </c:pt>
                  <c:pt idx="36">
                    <c:v>2019</c:v>
                  </c:pt>
                  <c:pt idx="48">
                    <c:v>2020</c:v>
                  </c:pt>
                </c:lvl>
              </c:multiLvlStrCache>
            </c:multiLvlStrRef>
          </c:cat>
          <c:val>
            <c:numRef>
              <c:f>'Dashboard Pivot''s'!$H$2:$H$67</c:f>
              <c:numCache>
                <c:formatCode>0.00</c:formatCode>
                <c:ptCount val="60"/>
                <c:pt idx="0">
                  <c:v>3.9605381165919282</c:v>
                </c:pt>
                <c:pt idx="1">
                  <c:v>3.9346590909090908</c:v>
                </c:pt>
                <c:pt idx="2">
                  <c:v>3.949321266968326</c:v>
                </c:pt>
                <c:pt idx="3">
                  <c:v>4.0123339658444026</c:v>
                </c:pt>
                <c:pt idx="4">
                  <c:v>3.9336206896551724</c:v>
                </c:pt>
                <c:pt idx="5">
                  <c:v>3.955280685061846</c:v>
                </c:pt>
                <c:pt idx="6">
                  <c:v>3.9509536784741144</c:v>
                </c:pt>
                <c:pt idx="7">
                  <c:v>3.9990825688073395</c:v>
                </c:pt>
                <c:pt idx="8">
                  <c:v>4.0047125353440149</c:v>
                </c:pt>
                <c:pt idx="9">
                  <c:v>3.9595588235294117</c:v>
                </c:pt>
                <c:pt idx="10">
                  <c:v>4.0430210325047797</c:v>
                </c:pt>
                <c:pt idx="11">
                  <c:v>4.0569395017793592</c:v>
                </c:pt>
                <c:pt idx="12">
                  <c:v>4.1431111111111107</c:v>
                </c:pt>
                <c:pt idx="13">
                  <c:v>4.0208514335360555</c:v>
                </c:pt>
                <c:pt idx="14">
                  <c:v>4.0366328916601715</c:v>
                </c:pt>
                <c:pt idx="15">
                  <c:v>4.0530120481927714</c:v>
                </c:pt>
                <c:pt idx="16">
                  <c:v>4.0289962825278813</c:v>
                </c:pt>
                <c:pt idx="17">
                  <c:v>4.102090032154341</c:v>
                </c:pt>
                <c:pt idx="18">
                  <c:v>4.0819140308191404</c:v>
                </c:pt>
                <c:pt idx="19">
                  <c:v>4.0516282764098488</c:v>
                </c:pt>
                <c:pt idx="20">
                  <c:v>4.0653061224489795</c:v>
                </c:pt>
                <c:pt idx="21">
                  <c:v>4.0980842911877398</c:v>
                </c:pt>
                <c:pt idx="22">
                  <c:v>4.0667739340305715</c:v>
                </c:pt>
                <c:pt idx="23">
                  <c:v>4.0755767700875101</c:v>
                </c:pt>
                <c:pt idx="24">
                  <c:v>4.2265321955003881</c:v>
                </c:pt>
                <c:pt idx="25">
                  <c:v>4.0570670205706705</c:v>
                </c:pt>
                <c:pt idx="26">
                  <c:v>4.1149659863945578</c:v>
                </c:pt>
                <c:pt idx="27">
                  <c:v>4.1001843884449904</c:v>
                </c:pt>
                <c:pt idx="28">
                  <c:v>4.0568663036902599</c:v>
                </c:pt>
                <c:pt idx="29">
                  <c:v>4.0609903381642516</c:v>
                </c:pt>
                <c:pt idx="30">
                  <c:v>4.0790123456790122</c:v>
                </c:pt>
                <c:pt idx="31">
                  <c:v>4.0892750149790293</c:v>
                </c:pt>
                <c:pt idx="32">
                  <c:v>4.0946275946275943</c:v>
                </c:pt>
                <c:pt idx="33">
                  <c:v>4.0560240963855421</c:v>
                </c:pt>
                <c:pt idx="34">
                  <c:v>4.1033210332103325</c:v>
                </c:pt>
                <c:pt idx="35">
                  <c:v>4.0929174788823914</c:v>
                </c:pt>
                <c:pt idx="36">
                  <c:v>4.2056504599211566</c:v>
                </c:pt>
                <c:pt idx="37">
                  <c:v>4.0784650630011452</c:v>
                </c:pt>
                <c:pt idx="38">
                  <c:v>4.1213434452871072</c:v>
                </c:pt>
                <c:pt idx="39">
                  <c:v>4.1770963704630786</c:v>
                </c:pt>
                <c:pt idx="40">
                  <c:v>4.1695501730103803</c:v>
                </c:pt>
                <c:pt idx="41">
                  <c:v>4.0840659340659338</c:v>
                </c:pt>
                <c:pt idx="42">
                  <c:v>4.1161803713527849</c:v>
                </c:pt>
                <c:pt idx="43">
                  <c:v>4.1396325459317582</c:v>
                </c:pt>
                <c:pt idx="44">
                  <c:v>4.1239224137931032</c:v>
                </c:pt>
                <c:pt idx="45">
                  <c:v>4.1024000000000003</c:v>
                </c:pt>
                <c:pt idx="46">
                  <c:v>4.0988530857454943</c:v>
                </c:pt>
                <c:pt idx="47">
                  <c:v>4.0737179487179489</c:v>
                </c:pt>
                <c:pt idx="48">
                  <c:v>4.1716111364673667</c:v>
                </c:pt>
                <c:pt idx="49">
                  <c:v>4.1593609176566977</c:v>
                </c:pt>
                <c:pt idx="50">
                  <c:v>4.0879556259904914</c:v>
                </c:pt>
                <c:pt idx="51">
                  <c:v>4.1566514711976792</c:v>
                </c:pt>
                <c:pt idx="52">
                  <c:v>4.2462987886944816</c:v>
                </c:pt>
                <c:pt idx="53">
                  <c:v>4.176793248945148</c:v>
                </c:pt>
                <c:pt idx="54">
                  <c:v>4.2720753025549083</c:v>
                </c:pt>
                <c:pt idx="55">
                  <c:v>4.1395167575993765</c:v>
                </c:pt>
                <c:pt idx="56">
                  <c:v>4.1521115211152111</c:v>
                </c:pt>
                <c:pt idx="57">
                  <c:v>4.1254382547721073</c:v>
                </c:pt>
                <c:pt idx="58">
                  <c:v>4.1172248803827749</c:v>
                </c:pt>
                <c:pt idx="59">
                  <c:v>4.1556151782292066</c:v>
                </c:pt>
              </c:numCache>
            </c:numRef>
          </c:val>
          <c:smooth val="0"/>
          <c:extLst>
            <c:ext xmlns:c16="http://schemas.microsoft.com/office/drawing/2014/chart" uri="{C3380CC4-5D6E-409C-BE32-E72D297353CC}">
              <c16:uniqueId val="{00000000-1B39-40D7-B618-886D7C984840}"/>
            </c:ext>
          </c:extLst>
        </c:ser>
        <c:dLbls>
          <c:dLblPos val="t"/>
          <c:showLegendKey val="0"/>
          <c:showVal val="1"/>
          <c:showCatName val="0"/>
          <c:showSerName val="0"/>
          <c:showPercent val="0"/>
          <c:showBubbleSize val="0"/>
        </c:dLbls>
        <c:smooth val="0"/>
        <c:axId val="1425638384"/>
        <c:axId val="504663280"/>
      </c:lineChart>
      <c:catAx>
        <c:axId val="1425638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04663280"/>
        <c:crosses val="autoZero"/>
        <c:auto val="1"/>
        <c:lblAlgn val="ctr"/>
        <c:lblOffset val="100"/>
        <c:noMultiLvlLbl val="0"/>
      </c:catAx>
      <c:valAx>
        <c:axId val="504663280"/>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256383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Tickets.xlsx]Dashboard Pivot's!PivotTable12</c:name>
    <c:fmtId val="23"/>
  </c:pivotSource>
  <c:chart>
    <c:title>
      <c:tx>
        <c:rich>
          <a:bodyPr rot="0" spcFirstLastPara="1" vertOverflow="ellipsis" vert="horz" wrap="square" anchor="ctr" anchorCtr="1"/>
          <a:lstStyle/>
          <a:p>
            <a:pPr>
              <a:defRPr sz="1400" b="0" i="0" u="none" strike="noStrike" kern="1200" spc="0" baseline="0">
                <a:solidFill>
                  <a:srgbClr val="3E2723"/>
                </a:solidFill>
                <a:latin typeface="Segoe UI Semibold" panose="020B0702040204020203" pitchFamily="34" charset="0"/>
                <a:ea typeface="+mn-ea"/>
                <a:cs typeface="Segoe UI Semibold" panose="020B0702040204020203" pitchFamily="34" charset="0"/>
              </a:defRPr>
            </a:pPr>
            <a:r>
              <a:rPr lang="en-US" b="1">
                <a:solidFill>
                  <a:srgbClr val="3E2723"/>
                </a:solidFill>
                <a:latin typeface="Segoe UI Semibold" panose="020B0702040204020203" pitchFamily="34" charset="0"/>
                <a:cs typeface="Segoe UI Semibold" panose="020B0702040204020203" pitchFamily="34" charset="0"/>
              </a:rPr>
              <a:t>Tickets by Months and Year</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3E2723"/>
              </a:solidFill>
              <a:latin typeface="Segoe UI Semibold" panose="020B0702040204020203" pitchFamily="34" charset="0"/>
              <a:ea typeface="+mn-ea"/>
              <a:cs typeface="Segoe UI Semibold" panose="020B0702040204020203" pitchFamily="34" charset="0"/>
            </a:defRPr>
          </a:pPr>
          <a:endParaRPr lang="en-US"/>
        </a:p>
      </c:txPr>
    </c:title>
    <c:autoTitleDeleted val="0"/>
    <c:pivotFmts>
      <c:pivotFmt>
        <c:idx val="0"/>
        <c:dLbl>
          <c:idx val="0"/>
          <c:dLblPos val="t"/>
          <c:showLegendKey val="0"/>
          <c:showVal val="1"/>
          <c:showCatName val="0"/>
          <c:showSerName val="0"/>
          <c:showPercent val="0"/>
          <c:showBubbleSize val="0"/>
          <c:extLst>
            <c:ext xmlns:c15="http://schemas.microsoft.com/office/drawing/2012/chart" uri="{CE6537A1-D6FC-4f65-9D91-7224C49458BB}"/>
          </c:extLst>
        </c:dLbl>
      </c:pivotFmt>
      <c:pivotFmt>
        <c:idx val="1"/>
        <c:dLbl>
          <c:idx val="0"/>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21618C"/>
            </a:solidFill>
            <a:round/>
          </a:ln>
          <a:effectLst/>
        </c:spPr>
        <c:marker>
          <c:symbol val="circle"/>
          <c:size val="5"/>
          <c:spPr>
            <a:solidFill>
              <a:srgbClr val="3498DB"/>
            </a:solidFill>
            <a:ln w="9525">
              <a:solidFill>
                <a:srgbClr val="21618C"/>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21618C"/>
            </a:solidFill>
            <a:round/>
          </a:ln>
          <a:effectLst>
            <a:glow>
              <a:schemeClr val="accent1">
                <a:alpha val="40000"/>
              </a:schemeClr>
            </a:glow>
            <a:softEdge rad="0"/>
          </a:effectLst>
        </c:spPr>
        <c:marker>
          <c:symbol val="circle"/>
          <c:size val="5"/>
          <c:spPr>
            <a:solidFill>
              <a:srgbClr val="3498DB"/>
            </a:solidFill>
            <a:ln w="9525">
              <a:solidFill>
                <a:srgbClr val="21618C"/>
              </a:solidFill>
            </a:ln>
            <a:effectLst>
              <a:glow>
                <a:schemeClr val="accent1">
                  <a:alpha val="40000"/>
                </a:schemeClr>
              </a:glow>
              <a:softEdge rad="0"/>
            </a:effectLst>
          </c:spPr>
        </c:marker>
      </c:pivotFmt>
      <c:pivotFmt>
        <c:idx val="4"/>
        <c:spPr>
          <a:solidFill>
            <a:schemeClr val="accent1"/>
          </a:solidFill>
          <a:ln w="28575" cap="rnd">
            <a:solidFill>
              <a:srgbClr val="21618C"/>
            </a:solidFill>
            <a:round/>
          </a:ln>
          <a:effectLst/>
        </c:spPr>
        <c:marker>
          <c:symbol val="circle"/>
          <c:size val="5"/>
          <c:spPr>
            <a:solidFill>
              <a:srgbClr val="3498DB"/>
            </a:solidFill>
            <a:ln w="9525">
              <a:solidFill>
                <a:srgbClr val="21618C"/>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21618C"/>
            </a:solidFill>
            <a:round/>
          </a:ln>
          <a:effectLst>
            <a:glow>
              <a:schemeClr val="accent1">
                <a:alpha val="40000"/>
              </a:schemeClr>
            </a:glow>
            <a:softEdge rad="0"/>
          </a:effectLst>
        </c:spPr>
        <c:marker>
          <c:symbol val="circle"/>
          <c:size val="5"/>
          <c:spPr>
            <a:solidFill>
              <a:srgbClr val="3498DB"/>
            </a:solidFill>
            <a:ln w="9525">
              <a:solidFill>
                <a:srgbClr val="21618C"/>
              </a:solidFill>
            </a:ln>
            <a:effectLst>
              <a:glow>
                <a:schemeClr val="accent1">
                  <a:alpha val="40000"/>
                </a:schemeClr>
              </a:glow>
              <a:softEdge rad="0"/>
            </a:effectLst>
          </c:spPr>
        </c:marker>
      </c:pivotFmt>
      <c:pivotFmt>
        <c:idx val="6"/>
        <c:spPr>
          <a:solidFill>
            <a:schemeClr val="accent1"/>
          </a:solidFill>
          <a:ln w="28575" cap="rnd">
            <a:solidFill>
              <a:srgbClr val="21618C"/>
            </a:solidFill>
            <a:round/>
          </a:ln>
          <a:effectLst/>
        </c:spPr>
        <c:marker>
          <c:symbol val="circle"/>
          <c:size val="5"/>
          <c:spPr>
            <a:solidFill>
              <a:srgbClr val="3498DB"/>
            </a:solidFill>
            <a:ln w="9525">
              <a:solidFill>
                <a:srgbClr val="21618C"/>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rgbClr val="21618C"/>
            </a:solidFill>
            <a:round/>
          </a:ln>
          <a:effectLst>
            <a:glow>
              <a:schemeClr val="accent1">
                <a:alpha val="40000"/>
              </a:schemeClr>
            </a:glow>
            <a:softEdge rad="0"/>
          </a:effectLst>
        </c:spPr>
        <c:marker>
          <c:symbol val="circle"/>
          <c:size val="5"/>
          <c:spPr>
            <a:solidFill>
              <a:srgbClr val="3498DB"/>
            </a:solidFill>
            <a:ln w="9525">
              <a:solidFill>
                <a:srgbClr val="21618C"/>
              </a:solidFill>
            </a:ln>
            <a:effectLst>
              <a:glow>
                <a:schemeClr val="accent1">
                  <a:alpha val="40000"/>
                </a:schemeClr>
              </a:glow>
              <a:softEdge rad="0"/>
            </a:effectLst>
          </c:spPr>
        </c:marker>
      </c:pivotFmt>
    </c:pivotFmts>
    <c:plotArea>
      <c:layout/>
      <c:lineChart>
        <c:grouping val="standard"/>
        <c:varyColors val="0"/>
        <c:ser>
          <c:idx val="0"/>
          <c:order val="0"/>
          <c:tx>
            <c:strRef>
              <c:f>'Dashboard Pivot''s'!$B$1</c:f>
              <c:strCache>
                <c:ptCount val="1"/>
                <c:pt idx="0">
                  <c:v>Total</c:v>
                </c:pt>
              </c:strCache>
            </c:strRef>
          </c:tx>
          <c:spPr>
            <a:ln w="28575" cap="rnd">
              <a:solidFill>
                <a:srgbClr val="21618C"/>
              </a:solidFill>
              <a:round/>
            </a:ln>
            <a:effectLst/>
          </c:spPr>
          <c:marker>
            <c:symbol val="circle"/>
            <c:size val="5"/>
            <c:spPr>
              <a:solidFill>
                <a:srgbClr val="3498DB"/>
              </a:solidFill>
              <a:ln w="9525">
                <a:solidFill>
                  <a:srgbClr val="21618C"/>
                </a:solidFill>
              </a:ln>
              <a:effectLst/>
            </c:spPr>
          </c:marker>
          <c:dPt>
            <c:idx val="44"/>
            <c:marker>
              <c:symbol val="circle"/>
              <c:size val="5"/>
              <c:spPr>
                <a:solidFill>
                  <a:srgbClr val="3498DB"/>
                </a:solidFill>
                <a:ln w="9525">
                  <a:solidFill>
                    <a:srgbClr val="21618C"/>
                  </a:solidFill>
                </a:ln>
                <a:effectLst>
                  <a:glow>
                    <a:schemeClr val="accent1">
                      <a:alpha val="40000"/>
                    </a:schemeClr>
                  </a:glow>
                  <a:softEdge rad="0"/>
                </a:effectLst>
              </c:spPr>
            </c:marker>
            <c:bubble3D val="0"/>
            <c:spPr>
              <a:ln w="28575" cap="rnd">
                <a:solidFill>
                  <a:srgbClr val="21618C"/>
                </a:solidFill>
                <a:round/>
              </a:ln>
              <a:effectLst>
                <a:glow>
                  <a:schemeClr val="accent1">
                    <a:alpha val="40000"/>
                  </a:schemeClr>
                </a:glow>
                <a:softEdge rad="0"/>
              </a:effectLst>
            </c:spPr>
            <c:extLst>
              <c:ext xmlns:c16="http://schemas.microsoft.com/office/drawing/2014/chart" uri="{C3380CC4-5D6E-409C-BE32-E72D297353CC}">
                <c16:uniqueId val="{00000001-B2FD-49F3-B0FA-E578DB10C114}"/>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'Dashboard Pivot''s'!$A$2:$A$67</c:f>
              <c:multiLvlStrCache>
                <c:ptCount val="60"/>
                <c:lvl>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pt idx="17">
                    <c:v>Jun</c:v>
                  </c:pt>
                  <c:pt idx="18">
                    <c:v>Jul</c:v>
                  </c:pt>
                  <c:pt idx="19">
                    <c:v>Aug</c:v>
                  </c:pt>
                  <c:pt idx="20">
                    <c:v>Sep</c:v>
                  </c:pt>
                  <c:pt idx="21">
                    <c:v>Oct</c:v>
                  </c:pt>
                  <c:pt idx="22">
                    <c:v>Nov</c:v>
                  </c:pt>
                  <c:pt idx="23">
                    <c:v>Dec</c:v>
                  </c:pt>
                  <c:pt idx="24">
                    <c:v>Jan</c:v>
                  </c:pt>
                  <c:pt idx="25">
                    <c:v>Feb</c:v>
                  </c:pt>
                  <c:pt idx="26">
                    <c:v>Mar</c:v>
                  </c:pt>
                  <c:pt idx="27">
                    <c:v>Apr</c:v>
                  </c:pt>
                  <c:pt idx="28">
                    <c:v>May</c:v>
                  </c:pt>
                  <c:pt idx="29">
                    <c:v>Jun</c:v>
                  </c:pt>
                  <c:pt idx="30">
                    <c:v>Jul</c:v>
                  </c:pt>
                  <c:pt idx="31">
                    <c:v>Aug</c:v>
                  </c:pt>
                  <c:pt idx="32">
                    <c:v>Sep</c:v>
                  </c:pt>
                  <c:pt idx="33">
                    <c:v>Oct</c:v>
                  </c:pt>
                  <c:pt idx="34">
                    <c:v>Nov</c:v>
                  </c:pt>
                  <c:pt idx="35">
                    <c:v>Dec</c:v>
                  </c:pt>
                  <c:pt idx="36">
                    <c:v>Jan</c:v>
                  </c:pt>
                  <c:pt idx="37">
                    <c:v>Feb</c:v>
                  </c:pt>
                  <c:pt idx="38">
                    <c:v>Mar</c:v>
                  </c:pt>
                  <c:pt idx="39">
                    <c:v>Apr</c:v>
                  </c:pt>
                  <c:pt idx="40">
                    <c:v>May</c:v>
                  </c:pt>
                  <c:pt idx="41">
                    <c:v>Jun</c:v>
                  </c:pt>
                  <c:pt idx="42">
                    <c:v>Jul</c:v>
                  </c:pt>
                  <c:pt idx="43">
                    <c:v>Aug</c:v>
                  </c:pt>
                  <c:pt idx="44">
                    <c:v>Sep</c:v>
                  </c:pt>
                  <c:pt idx="45">
                    <c:v>Oct</c:v>
                  </c:pt>
                  <c:pt idx="46">
                    <c:v>Nov</c:v>
                  </c:pt>
                  <c:pt idx="47">
                    <c:v>Dec</c:v>
                  </c:pt>
                  <c:pt idx="48">
                    <c:v>Jan</c:v>
                  </c:pt>
                  <c:pt idx="49">
                    <c:v>Feb</c:v>
                  </c:pt>
                  <c:pt idx="50">
                    <c:v>Mar</c:v>
                  </c:pt>
                  <c:pt idx="51">
                    <c:v>Apr</c:v>
                  </c:pt>
                  <c:pt idx="52">
                    <c:v>May</c:v>
                  </c:pt>
                  <c:pt idx="53">
                    <c:v>Jun</c:v>
                  </c:pt>
                  <c:pt idx="54">
                    <c:v>Jul</c:v>
                  </c:pt>
                  <c:pt idx="55">
                    <c:v>Aug</c:v>
                  </c:pt>
                  <c:pt idx="56">
                    <c:v>Sep</c:v>
                  </c:pt>
                  <c:pt idx="57">
                    <c:v>Oct</c:v>
                  </c:pt>
                  <c:pt idx="58">
                    <c:v>Nov</c:v>
                  </c:pt>
                  <c:pt idx="59">
                    <c:v>Dec</c:v>
                  </c:pt>
                </c:lvl>
                <c:lvl>
                  <c:pt idx="0">
                    <c:v>2016</c:v>
                  </c:pt>
                  <c:pt idx="12">
                    <c:v>2017</c:v>
                  </c:pt>
                  <c:pt idx="24">
                    <c:v>2018</c:v>
                  </c:pt>
                  <c:pt idx="36">
                    <c:v>2019</c:v>
                  </c:pt>
                  <c:pt idx="48">
                    <c:v>2020</c:v>
                  </c:pt>
                </c:lvl>
              </c:multiLvlStrCache>
            </c:multiLvlStrRef>
          </c:cat>
          <c:val>
            <c:numRef>
              <c:f>'Dashboard Pivot''s'!$B$2:$B$67</c:f>
              <c:numCache>
                <c:formatCode>General</c:formatCode>
                <c:ptCount val="60"/>
                <c:pt idx="0">
                  <c:v>1115</c:v>
                </c:pt>
                <c:pt idx="1">
                  <c:v>1056</c:v>
                </c:pt>
                <c:pt idx="2">
                  <c:v>1105</c:v>
                </c:pt>
                <c:pt idx="3">
                  <c:v>1054</c:v>
                </c:pt>
                <c:pt idx="4">
                  <c:v>1160</c:v>
                </c:pt>
                <c:pt idx="5">
                  <c:v>1051</c:v>
                </c:pt>
                <c:pt idx="6">
                  <c:v>1101</c:v>
                </c:pt>
                <c:pt idx="7">
                  <c:v>1090</c:v>
                </c:pt>
                <c:pt idx="8">
                  <c:v>1061</c:v>
                </c:pt>
                <c:pt idx="9">
                  <c:v>1088</c:v>
                </c:pt>
                <c:pt idx="10">
                  <c:v>1046</c:v>
                </c:pt>
                <c:pt idx="11">
                  <c:v>1124</c:v>
                </c:pt>
                <c:pt idx="12">
                  <c:v>1125</c:v>
                </c:pt>
                <c:pt idx="13">
                  <c:v>1151</c:v>
                </c:pt>
                <c:pt idx="14">
                  <c:v>1283</c:v>
                </c:pt>
                <c:pt idx="15">
                  <c:v>1245</c:v>
                </c:pt>
                <c:pt idx="16">
                  <c:v>1345</c:v>
                </c:pt>
                <c:pt idx="17">
                  <c:v>1244</c:v>
                </c:pt>
                <c:pt idx="18">
                  <c:v>1233</c:v>
                </c:pt>
                <c:pt idx="19">
                  <c:v>1259</c:v>
                </c:pt>
                <c:pt idx="20">
                  <c:v>1225</c:v>
                </c:pt>
                <c:pt idx="21">
                  <c:v>1305</c:v>
                </c:pt>
                <c:pt idx="22">
                  <c:v>1243</c:v>
                </c:pt>
                <c:pt idx="23">
                  <c:v>1257</c:v>
                </c:pt>
                <c:pt idx="24">
                  <c:v>1289</c:v>
                </c:pt>
                <c:pt idx="25">
                  <c:v>1507</c:v>
                </c:pt>
                <c:pt idx="26">
                  <c:v>1470</c:v>
                </c:pt>
                <c:pt idx="27">
                  <c:v>1627</c:v>
                </c:pt>
                <c:pt idx="28">
                  <c:v>1653</c:v>
                </c:pt>
                <c:pt idx="29">
                  <c:v>1656</c:v>
                </c:pt>
                <c:pt idx="30">
                  <c:v>1620</c:v>
                </c:pt>
                <c:pt idx="31">
                  <c:v>1669</c:v>
                </c:pt>
                <c:pt idx="32">
                  <c:v>1638</c:v>
                </c:pt>
                <c:pt idx="33">
                  <c:v>1660</c:v>
                </c:pt>
                <c:pt idx="34">
                  <c:v>1626</c:v>
                </c:pt>
                <c:pt idx="35">
                  <c:v>1539</c:v>
                </c:pt>
                <c:pt idx="36">
                  <c:v>1522</c:v>
                </c:pt>
                <c:pt idx="37">
                  <c:v>1746</c:v>
                </c:pt>
                <c:pt idx="38">
                  <c:v>1846</c:v>
                </c:pt>
                <c:pt idx="39">
                  <c:v>1598</c:v>
                </c:pt>
                <c:pt idx="40">
                  <c:v>1734</c:v>
                </c:pt>
                <c:pt idx="41">
                  <c:v>1820</c:v>
                </c:pt>
                <c:pt idx="42">
                  <c:v>1885</c:v>
                </c:pt>
                <c:pt idx="43">
                  <c:v>1905</c:v>
                </c:pt>
                <c:pt idx="44">
                  <c:v>1856</c:v>
                </c:pt>
                <c:pt idx="45">
                  <c:v>1875</c:v>
                </c:pt>
                <c:pt idx="46">
                  <c:v>1831</c:v>
                </c:pt>
                <c:pt idx="47">
                  <c:v>1872</c:v>
                </c:pt>
                <c:pt idx="48">
                  <c:v>2191</c:v>
                </c:pt>
                <c:pt idx="49">
                  <c:v>2441</c:v>
                </c:pt>
                <c:pt idx="50">
                  <c:v>2524</c:v>
                </c:pt>
                <c:pt idx="51">
                  <c:v>2413</c:v>
                </c:pt>
                <c:pt idx="52">
                  <c:v>2229</c:v>
                </c:pt>
                <c:pt idx="53">
                  <c:v>2370</c:v>
                </c:pt>
                <c:pt idx="54">
                  <c:v>2231</c:v>
                </c:pt>
                <c:pt idx="55">
                  <c:v>2566</c:v>
                </c:pt>
                <c:pt idx="56">
                  <c:v>2439</c:v>
                </c:pt>
                <c:pt idx="57">
                  <c:v>2567</c:v>
                </c:pt>
                <c:pt idx="58">
                  <c:v>2508</c:v>
                </c:pt>
                <c:pt idx="59">
                  <c:v>2609</c:v>
                </c:pt>
              </c:numCache>
            </c:numRef>
          </c:val>
          <c:smooth val="0"/>
          <c:extLst>
            <c:ext xmlns:c16="http://schemas.microsoft.com/office/drawing/2014/chart" uri="{C3380CC4-5D6E-409C-BE32-E72D297353CC}">
              <c16:uniqueId val="{00000002-B2FD-49F3-B0FA-E578DB10C114}"/>
            </c:ext>
          </c:extLst>
        </c:ser>
        <c:dLbls>
          <c:dLblPos val="t"/>
          <c:showLegendKey val="0"/>
          <c:showVal val="1"/>
          <c:showCatName val="0"/>
          <c:showSerName val="0"/>
          <c:showPercent val="0"/>
          <c:showBubbleSize val="0"/>
        </c:dLbls>
        <c:marker val="1"/>
        <c:smooth val="0"/>
        <c:axId val="1425767376"/>
        <c:axId val="695478288"/>
      </c:lineChart>
      <c:catAx>
        <c:axId val="142576737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695478288"/>
        <c:crosses val="autoZero"/>
        <c:auto val="1"/>
        <c:lblAlgn val="ctr"/>
        <c:lblOffset val="100"/>
        <c:noMultiLvlLbl val="0"/>
      </c:catAx>
      <c:valAx>
        <c:axId val="695478288"/>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25767376"/>
        <c:crosses val="autoZero"/>
        <c:crossBetween val="between"/>
      </c:valAx>
      <c:spPr>
        <a:solidFill>
          <a:srgbClr val="EAEAEA"/>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8F0"/>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54E1A3-3B8B-4031-AB7F-25F7AEB5535B}" type="doc">
      <dgm:prSet loTypeId="urn:microsoft.com/office/officeart/2018/2/layout/IconCircleList" loCatId="icon" qsTypeId="urn:microsoft.com/office/officeart/2005/8/quickstyle/simple3" qsCatId="simple" csTypeId="urn:microsoft.com/office/officeart/2005/8/colors/colorful5" csCatId="colorful" phldr="1"/>
      <dgm:spPr/>
      <dgm:t>
        <a:bodyPr/>
        <a:lstStyle/>
        <a:p>
          <a:endParaRPr lang="en-US"/>
        </a:p>
      </dgm:t>
    </dgm:pt>
    <dgm:pt modelId="{DF2640C8-FDDD-4B50-A69F-BE856F4C9050}">
      <dgm:prSet custT="1"/>
      <dgm:spPr/>
      <dgm:t>
        <a:bodyPr/>
        <a:lstStyle/>
        <a:p>
          <a:pPr>
            <a:lnSpc>
              <a:spcPct val="100000"/>
            </a:lnSpc>
          </a:pPr>
          <a:r>
            <a:rPr lang="en-IN" sz="1400" dirty="0"/>
            <a:t>Data Cleaning: Various functions &amp; tools like Trim(), Proper(), Find &amp; Replace, Left(), Right() &amp; filter() have been used in cleaning the dataset </a:t>
          </a:r>
          <a:endParaRPr lang="en-US" sz="1400" dirty="0"/>
        </a:p>
      </dgm:t>
    </dgm:pt>
    <dgm:pt modelId="{C82F7D21-D872-4141-B1CF-37F46E5C6B09}" type="parTrans" cxnId="{034F22B6-8D3E-4F5D-A904-D852E3F39774}">
      <dgm:prSet/>
      <dgm:spPr/>
      <dgm:t>
        <a:bodyPr/>
        <a:lstStyle/>
        <a:p>
          <a:endParaRPr lang="en-US"/>
        </a:p>
      </dgm:t>
    </dgm:pt>
    <dgm:pt modelId="{ACA5ABF2-2361-46AE-8B8E-308BFFDAFBC9}" type="sibTrans" cxnId="{034F22B6-8D3E-4F5D-A904-D852E3F39774}">
      <dgm:prSet/>
      <dgm:spPr/>
      <dgm:t>
        <a:bodyPr/>
        <a:lstStyle/>
        <a:p>
          <a:pPr>
            <a:lnSpc>
              <a:spcPct val="100000"/>
            </a:lnSpc>
          </a:pPr>
          <a:endParaRPr lang="en-US"/>
        </a:p>
      </dgm:t>
    </dgm:pt>
    <dgm:pt modelId="{2201B4DC-4373-4CDF-9F04-C7999715169C}">
      <dgm:prSet custT="1"/>
      <dgm:spPr/>
      <dgm:t>
        <a:bodyPr/>
        <a:lstStyle/>
        <a:p>
          <a:pPr>
            <a:lnSpc>
              <a:spcPct val="100000"/>
            </a:lnSpc>
          </a:pPr>
          <a:r>
            <a:rPr lang="en-IN" sz="1400" dirty="0"/>
            <a:t>Data Enrichment: Enhanced the functionality of dataset by using functions like </a:t>
          </a:r>
          <a:r>
            <a:rPr lang="en-IN" sz="1400" dirty="0" err="1"/>
            <a:t>vlookup</a:t>
          </a:r>
          <a:r>
            <a:rPr lang="en-IN" sz="1400" dirty="0"/>
            <a:t>() and Index() to search for various key performance variables.</a:t>
          </a:r>
          <a:endParaRPr lang="en-US" sz="1400" dirty="0"/>
        </a:p>
      </dgm:t>
    </dgm:pt>
    <dgm:pt modelId="{D039AEA8-65EE-4C07-9F4E-3B15A3E12C4D}" type="parTrans" cxnId="{23312A8F-E491-4C72-ADA1-06DB9A1F34A0}">
      <dgm:prSet/>
      <dgm:spPr/>
      <dgm:t>
        <a:bodyPr/>
        <a:lstStyle/>
        <a:p>
          <a:endParaRPr lang="en-US"/>
        </a:p>
      </dgm:t>
    </dgm:pt>
    <dgm:pt modelId="{F7F4E813-D74A-4884-A835-00C364ECDEFB}" type="sibTrans" cxnId="{23312A8F-E491-4C72-ADA1-06DB9A1F34A0}">
      <dgm:prSet/>
      <dgm:spPr/>
      <dgm:t>
        <a:bodyPr/>
        <a:lstStyle/>
        <a:p>
          <a:pPr>
            <a:lnSpc>
              <a:spcPct val="100000"/>
            </a:lnSpc>
          </a:pPr>
          <a:endParaRPr lang="en-US"/>
        </a:p>
      </dgm:t>
    </dgm:pt>
    <dgm:pt modelId="{E1BA4EDE-76EE-482A-9A09-EAE69652DD97}">
      <dgm:prSet custT="1"/>
      <dgm:spPr/>
      <dgm:t>
        <a:bodyPr/>
        <a:lstStyle/>
        <a:p>
          <a:pPr>
            <a:lnSpc>
              <a:spcPct val="100000"/>
            </a:lnSpc>
          </a:pPr>
          <a:r>
            <a:rPr lang="en-IN" sz="1400" dirty="0"/>
            <a:t>Data Aggregation: Functions like AVERAGEIF(), MAX(), MIN(), SUMIF(), COUNTIF() have been used to derive specific metrics out of the data set.</a:t>
          </a:r>
          <a:endParaRPr lang="en-US" sz="1400" dirty="0"/>
        </a:p>
      </dgm:t>
    </dgm:pt>
    <dgm:pt modelId="{96F986B2-0296-44F9-B5AA-8A6B363FE4D2}" type="parTrans" cxnId="{175E8710-49CF-4315-AC03-B0E151D03762}">
      <dgm:prSet/>
      <dgm:spPr/>
      <dgm:t>
        <a:bodyPr/>
        <a:lstStyle/>
        <a:p>
          <a:endParaRPr lang="en-US"/>
        </a:p>
      </dgm:t>
    </dgm:pt>
    <dgm:pt modelId="{ECAEFEB0-9F78-43A3-B51C-8EE2D1893E59}" type="sibTrans" cxnId="{175E8710-49CF-4315-AC03-B0E151D03762}">
      <dgm:prSet/>
      <dgm:spPr/>
      <dgm:t>
        <a:bodyPr/>
        <a:lstStyle/>
        <a:p>
          <a:pPr>
            <a:lnSpc>
              <a:spcPct val="100000"/>
            </a:lnSpc>
          </a:pPr>
          <a:endParaRPr lang="en-US"/>
        </a:p>
      </dgm:t>
    </dgm:pt>
    <dgm:pt modelId="{3046D747-2B9B-434E-A2A1-A6E9C9D10AEC}">
      <dgm:prSet custT="1"/>
      <dgm:spPr/>
      <dgm:t>
        <a:bodyPr/>
        <a:lstStyle/>
        <a:p>
          <a:pPr>
            <a:lnSpc>
              <a:spcPct val="100000"/>
            </a:lnSpc>
          </a:pPr>
          <a:r>
            <a:rPr lang="en-IN" sz="1400" dirty="0"/>
            <a:t>Trend Analysis: Deployed various pivot tables and their respective time series charts to determine trendline of the performance.</a:t>
          </a:r>
          <a:endParaRPr lang="en-US" sz="1400" dirty="0"/>
        </a:p>
      </dgm:t>
    </dgm:pt>
    <dgm:pt modelId="{378FD26F-00B1-4DC9-A27D-00546EF5D3B6}" type="parTrans" cxnId="{4A5E71C0-EEFC-4741-A55E-0853FACAE051}">
      <dgm:prSet/>
      <dgm:spPr/>
      <dgm:t>
        <a:bodyPr/>
        <a:lstStyle/>
        <a:p>
          <a:endParaRPr lang="en-US"/>
        </a:p>
      </dgm:t>
    </dgm:pt>
    <dgm:pt modelId="{AA9B636E-FCC8-43B2-AEA2-4EABEDE4FBBA}" type="sibTrans" cxnId="{4A5E71C0-EEFC-4741-A55E-0853FACAE051}">
      <dgm:prSet/>
      <dgm:spPr/>
      <dgm:t>
        <a:bodyPr/>
        <a:lstStyle/>
        <a:p>
          <a:pPr>
            <a:lnSpc>
              <a:spcPct val="100000"/>
            </a:lnSpc>
          </a:pPr>
          <a:endParaRPr lang="en-US"/>
        </a:p>
      </dgm:t>
    </dgm:pt>
    <dgm:pt modelId="{CB1162F6-6A0B-4E14-BDDD-8A517D00EB4A}">
      <dgm:prSet custT="1"/>
      <dgm:spPr/>
      <dgm:t>
        <a:bodyPr/>
        <a:lstStyle/>
        <a:p>
          <a:pPr>
            <a:lnSpc>
              <a:spcPct val="100000"/>
            </a:lnSpc>
          </a:pPr>
          <a:r>
            <a:rPr lang="en-IN" sz="1400" dirty="0"/>
            <a:t>Platform Segmentation: Categorized the platform used to identify the user activity in each of them</a:t>
          </a:r>
          <a:endParaRPr lang="en-US" sz="1400" dirty="0"/>
        </a:p>
      </dgm:t>
    </dgm:pt>
    <dgm:pt modelId="{F08E752B-2C12-4929-8527-A5C94AC1C3E8}" type="parTrans" cxnId="{FC061AAD-0C35-4994-897F-65EE34EE5909}">
      <dgm:prSet/>
      <dgm:spPr/>
      <dgm:t>
        <a:bodyPr/>
        <a:lstStyle/>
        <a:p>
          <a:endParaRPr lang="en-US"/>
        </a:p>
      </dgm:t>
    </dgm:pt>
    <dgm:pt modelId="{E5F4A370-DEE0-473A-A8D6-55963FCA76EB}" type="sibTrans" cxnId="{FC061AAD-0C35-4994-897F-65EE34EE5909}">
      <dgm:prSet/>
      <dgm:spPr/>
      <dgm:t>
        <a:bodyPr/>
        <a:lstStyle/>
        <a:p>
          <a:pPr>
            <a:lnSpc>
              <a:spcPct val="100000"/>
            </a:lnSpc>
          </a:pPr>
          <a:endParaRPr lang="en-US"/>
        </a:p>
      </dgm:t>
    </dgm:pt>
    <dgm:pt modelId="{9E35B834-8FF1-4C13-8146-48BD5B961EFE}">
      <dgm:prSet custT="1"/>
      <dgm:spPr/>
      <dgm:t>
        <a:bodyPr/>
        <a:lstStyle/>
        <a:p>
          <a:pPr>
            <a:lnSpc>
              <a:spcPct val="100000"/>
            </a:lnSpc>
          </a:pPr>
          <a:r>
            <a:rPr lang="en-IN" sz="1400" dirty="0"/>
            <a:t>Visualization: Using dynamic charts and slicers data visualizations have been shown to derive meaningful inferences.</a:t>
          </a:r>
          <a:endParaRPr lang="en-US" sz="1400" dirty="0"/>
        </a:p>
      </dgm:t>
    </dgm:pt>
    <dgm:pt modelId="{DCC06187-AFD9-464F-A22E-6BF46B4C7DF8}" type="parTrans" cxnId="{B20E3D58-BAAF-4007-874C-704CB5903F32}">
      <dgm:prSet/>
      <dgm:spPr/>
      <dgm:t>
        <a:bodyPr/>
        <a:lstStyle/>
        <a:p>
          <a:endParaRPr lang="en-US"/>
        </a:p>
      </dgm:t>
    </dgm:pt>
    <dgm:pt modelId="{3A531071-9064-4253-B515-5F158F403144}" type="sibTrans" cxnId="{B20E3D58-BAAF-4007-874C-704CB5903F32}">
      <dgm:prSet/>
      <dgm:spPr/>
      <dgm:t>
        <a:bodyPr/>
        <a:lstStyle/>
        <a:p>
          <a:endParaRPr lang="en-US"/>
        </a:p>
      </dgm:t>
    </dgm:pt>
    <dgm:pt modelId="{41C14B32-AEDE-4E33-9741-AA8AB730343A}" type="pres">
      <dgm:prSet presAssocID="{1A54E1A3-3B8B-4031-AB7F-25F7AEB5535B}" presName="root" presStyleCnt="0">
        <dgm:presLayoutVars>
          <dgm:dir/>
          <dgm:resizeHandles val="exact"/>
        </dgm:presLayoutVars>
      </dgm:prSet>
      <dgm:spPr/>
    </dgm:pt>
    <dgm:pt modelId="{FCE6A7CD-6DF1-4AE1-82CB-DEA133F2DD35}" type="pres">
      <dgm:prSet presAssocID="{1A54E1A3-3B8B-4031-AB7F-25F7AEB5535B}" presName="container" presStyleCnt="0">
        <dgm:presLayoutVars>
          <dgm:dir/>
          <dgm:resizeHandles val="exact"/>
        </dgm:presLayoutVars>
      </dgm:prSet>
      <dgm:spPr/>
    </dgm:pt>
    <dgm:pt modelId="{6636474C-3057-4694-94B4-353B2E8E8D2C}" type="pres">
      <dgm:prSet presAssocID="{DF2640C8-FDDD-4B50-A69F-BE856F4C9050}" presName="compNode" presStyleCnt="0"/>
      <dgm:spPr/>
    </dgm:pt>
    <dgm:pt modelId="{5D05168D-8693-4AC3-8A6B-1F1500B5A34E}" type="pres">
      <dgm:prSet presAssocID="{DF2640C8-FDDD-4B50-A69F-BE856F4C9050}" presName="iconBgRect" presStyleLbl="bgShp" presStyleIdx="0" presStyleCnt="6"/>
      <dgm:spPr/>
    </dgm:pt>
    <dgm:pt modelId="{3C0EF3C1-57B7-4233-BD84-C1DF9318E3A6}" type="pres">
      <dgm:prSet presAssocID="{DF2640C8-FDDD-4B50-A69F-BE856F4C9050}"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Gears"/>
        </a:ext>
      </dgm:extLst>
    </dgm:pt>
    <dgm:pt modelId="{F636B5A8-242F-449D-AF5D-36FD070ACBCC}" type="pres">
      <dgm:prSet presAssocID="{DF2640C8-FDDD-4B50-A69F-BE856F4C9050}" presName="spaceRect" presStyleCnt="0"/>
      <dgm:spPr/>
    </dgm:pt>
    <dgm:pt modelId="{84032B72-BB43-4875-9869-1162F7BF163E}" type="pres">
      <dgm:prSet presAssocID="{DF2640C8-FDDD-4B50-A69F-BE856F4C9050}" presName="textRect" presStyleLbl="revTx" presStyleIdx="0" presStyleCnt="6">
        <dgm:presLayoutVars>
          <dgm:chMax val="1"/>
          <dgm:chPref val="1"/>
        </dgm:presLayoutVars>
      </dgm:prSet>
      <dgm:spPr/>
    </dgm:pt>
    <dgm:pt modelId="{6FD14EF2-8401-4EB0-BFFE-58E75105F498}" type="pres">
      <dgm:prSet presAssocID="{ACA5ABF2-2361-46AE-8B8E-308BFFDAFBC9}" presName="sibTrans" presStyleLbl="sibTrans2D1" presStyleIdx="0" presStyleCnt="0"/>
      <dgm:spPr/>
    </dgm:pt>
    <dgm:pt modelId="{C61AE78E-AD9A-47DB-B499-BAC2728B4384}" type="pres">
      <dgm:prSet presAssocID="{2201B4DC-4373-4CDF-9F04-C7999715169C}" presName="compNode" presStyleCnt="0"/>
      <dgm:spPr/>
    </dgm:pt>
    <dgm:pt modelId="{3617613B-79A7-4CA9-970A-5A0DBBE7E97B}" type="pres">
      <dgm:prSet presAssocID="{2201B4DC-4373-4CDF-9F04-C7999715169C}" presName="iconBgRect" presStyleLbl="bgShp" presStyleIdx="1" presStyleCnt="6"/>
      <dgm:spPr/>
    </dgm:pt>
    <dgm:pt modelId="{91685F51-D346-47E6-96EC-67A4BFB06F0B}" type="pres">
      <dgm:prSet presAssocID="{2201B4DC-4373-4CDF-9F04-C7999715169C}"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415327E0-0F58-437A-8EA8-123C98332748}" type="pres">
      <dgm:prSet presAssocID="{2201B4DC-4373-4CDF-9F04-C7999715169C}" presName="spaceRect" presStyleCnt="0"/>
      <dgm:spPr/>
    </dgm:pt>
    <dgm:pt modelId="{5631D20C-B659-43FA-83C5-1BEF8742B798}" type="pres">
      <dgm:prSet presAssocID="{2201B4DC-4373-4CDF-9F04-C7999715169C}" presName="textRect" presStyleLbl="revTx" presStyleIdx="1" presStyleCnt="6">
        <dgm:presLayoutVars>
          <dgm:chMax val="1"/>
          <dgm:chPref val="1"/>
        </dgm:presLayoutVars>
      </dgm:prSet>
      <dgm:spPr/>
    </dgm:pt>
    <dgm:pt modelId="{B1C417C3-8C98-4C73-9AD1-03B4FBEB9E23}" type="pres">
      <dgm:prSet presAssocID="{F7F4E813-D74A-4884-A835-00C364ECDEFB}" presName="sibTrans" presStyleLbl="sibTrans2D1" presStyleIdx="0" presStyleCnt="0"/>
      <dgm:spPr/>
    </dgm:pt>
    <dgm:pt modelId="{6971410C-2F1F-4043-8657-F859F6581EE9}" type="pres">
      <dgm:prSet presAssocID="{E1BA4EDE-76EE-482A-9A09-EAE69652DD97}" presName="compNode" presStyleCnt="0"/>
      <dgm:spPr/>
    </dgm:pt>
    <dgm:pt modelId="{CAAC708C-AA3C-4D27-83BB-E31DA0EC66F1}" type="pres">
      <dgm:prSet presAssocID="{E1BA4EDE-76EE-482A-9A09-EAE69652DD97}" presName="iconBgRect" presStyleLbl="bgShp" presStyleIdx="2" presStyleCnt="6"/>
      <dgm:spPr/>
    </dgm:pt>
    <dgm:pt modelId="{BCCF3D0B-B1A1-44BC-9E2E-771392E53DD9}" type="pres">
      <dgm:prSet presAssocID="{E1BA4EDE-76EE-482A-9A09-EAE69652DD97}"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Rain"/>
        </a:ext>
      </dgm:extLst>
    </dgm:pt>
    <dgm:pt modelId="{A32D7309-F381-4F79-9417-0035D537AE9B}" type="pres">
      <dgm:prSet presAssocID="{E1BA4EDE-76EE-482A-9A09-EAE69652DD97}" presName="spaceRect" presStyleCnt="0"/>
      <dgm:spPr/>
    </dgm:pt>
    <dgm:pt modelId="{8F7427A7-80BB-42E0-8226-1D158E219B4F}" type="pres">
      <dgm:prSet presAssocID="{E1BA4EDE-76EE-482A-9A09-EAE69652DD97}" presName="textRect" presStyleLbl="revTx" presStyleIdx="2" presStyleCnt="6">
        <dgm:presLayoutVars>
          <dgm:chMax val="1"/>
          <dgm:chPref val="1"/>
        </dgm:presLayoutVars>
      </dgm:prSet>
      <dgm:spPr/>
    </dgm:pt>
    <dgm:pt modelId="{781B85F7-9F36-447F-9E13-A8AAC74A307A}" type="pres">
      <dgm:prSet presAssocID="{ECAEFEB0-9F78-43A3-B51C-8EE2D1893E59}" presName="sibTrans" presStyleLbl="sibTrans2D1" presStyleIdx="0" presStyleCnt="0"/>
      <dgm:spPr/>
    </dgm:pt>
    <dgm:pt modelId="{E90651FB-F5EF-4A7D-AA55-BDAF8C534C6A}" type="pres">
      <dgm:prSet presAssocID="{3046D747-2B9B-434E-A2A1-A6E9C9D10AEC}" presName="compNode" presStyleCnt="0"/>
      <dgm:spPr/>
    </dgm:pt>
    <dgm:pt modelId="{303236B4-77CB-4F52-AD30-924F812F2B43}" type="pres">
      <dgm:prSet presAssocID="{3046D747-2B9B-434E-A2A1-A6E9C9D10AEC}" presName="iconBgRect" presStyleLbl="bgShp" presStyleIdx="3" presStyleCnt="6"/>
      <dgm:spPr/>
    </dgm:pt>
    <dgm:pt modelId="{A98922D8-FF40-4953-8A1B-708EE93F1F0E}" type="pres">
      <dgm:prSet presAssocID="{3046D747-2B9B-434E-A2A1-A6E9C9D10AEC}"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atistics"/>
        </a:ext>
      </dgm:extLst>
    </dgm:pt>
    <dgm:pt modelId="{82B7DD93-DBAE-4EA5-A4FB-947C01446A93}" type="pres">
      <dgm:prSet presAssocID="{3046D747-2B9B-434E-A2A1-A6E9C9D10AEC}" presName="spaceRect" presStyleCnt="0"/>
      <dgm:spPr/>
    </dgm:pt>
    <dgm:pt modelId="{356EFF08-A831-4590-98FA-48A9050A8B52}" type="pres">
      <dgm:prSet presAssocID="{3046D747-2B9B-434E-A2A1-A6E9C9D10AEC}" presName="textRect" presStyleLbl="revTx" presStyleIdx="3" presStyleCnt="6">
        <dgm:presLayoutVars>
          <dgm:chMax val="1"/>
          <dgm:chPref val="1"/>
        </dgm:presLayoutVars>
      </dgm:prSet>
      <dgm:spPr/>
    </dgm:pt>
    <dgm:pt modelId="{4914FD23-7255-446E-8E89-18AE83562F9B}" type="pres">
      <dgm:prSet presAssocID="{AA9B636E-FCC8-43B2-AEA2-4EABEDE4FBBA}" presName="sibTrans" presStyleLbl="sibTrans2D1" presStyleIdx="0" presStyleCnt="0"/>
      <dgm:spPr/>
    </dgm:pt>
    <dgm:pt modelId="{1921617E-FF92-4E87-B53A-8D79FAEDBDCF}" type="pres">
      <dgm:prSet presAssocID="{CB1162F6-6A0B-4E14-BDDD-8A517D00EB4A}" presName="compNode" presStyleCnt="0"/>
      <dgm:spPr/>
    </dgm:pt>
    <dgm:pt modelId="{044B68F6-F9F3-43EB-8F03-16AFA28B01E2}" type="pres">
      <dgm:prSet presAssocID="{CB1162F6-6A0B-4E14-BDDD-8A517D00EB4A}" presName="iconBgRect" presStyleLbl="bgShp" presStyleIdx="4" presStyleCnt="6"/>
      <dgm:spPr/>
    </dgm:pt>
    <dgm:pt modelId="{65CBE187-B1E1-47F2-BF18-417089C7BABC}" type="pres">
      <dgm:prSet presAssocID="{CB1162F6-6A0B-4E14-BDDD-8A517D00EB4A}"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Flowchart"/>
        </a:ext>
      </dgm:extLst>
    </dgm:pt>
    <dgm:pt modelId="{CBD70323-1843-47AC-82A4-6703BCC2AA3B}" type="pres">
      <dgm:prSet presAssocID="{CB1162F6-6A0B-4E14-BDDD-8A517D00EB4A}" presName="spaceRect" presStyleCnt="0"/>
      <dgm:spPr/>
    </dgm:pt>
    <dgm:pt modelId="{52384B79-0F09-46FD-9A1F-8EA79FEC6023}" type="pres">
      <dgm:prSet presAssocID="{CB1162F6-6A0B-4E14-BDDD-8A517D00EB4A}" presName="textRect" presStyleLbl="revTx" presStyleIdx="4" presStyleCnt="6">
        <dgm:presLayoutVars>
          <dgm:chMax val="1"/>
          <dgm:chPref val="1"/>
        </dgm:presLayoutVars>
      </dgm:prSet>
      <dgm:spPr/>
    </dgm:pt>
    <dgm:pt modelId="{ED71287C-B8D5-43F2-BA9D-AA22B7ED74C7}" type="pres">
      <dgm:prSet presAssocID="{E5F4A370-DEE0-473A-A8D6-55963FCA76EB}" presName="sibTrans" presStyleLbl="sibTrans2D1" presStyleIdx="0" presStyleCnt="0"/>
      <dgm:spPr/>
    </dgm:pt>
    <dgm:pt modelId="{8072F460-D445-4180-92BA-5E2DF003EB90}" type="pres">
      <dgm:prSet presAssocID="{9E35B834-8FF1-4C13-8146-48BD5B961EFE}" presName="compNode" presStyleCnt="0"/>
      <dgm:spPr/>
    </dgm:pt>
    <dgm:pt modelId="{85D6D9DB-9BCD-4BD0-A191-CFDDF75327E7}" type="pres">
      <dgm:prSet presAssocID="{9E35B834-8FF1-4C13-8146-48BD5B961EFE}" presName="iconBgRect" presStyleLbl="bgShp" presStyleIdx="5" presStyleCnt="6"/>
      <dgm:spPr/>
    </dgm:pt>
    <dgm:pt modelId="{33107AB3-8A0D-45F5-A1E0-CDDA79CEAE56}" type="pres">
      <dgm:prSet presAssocID="{9E35B834-8FF1-4C13-8146-48BD5B961EFE}"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ie chart"/>
        </a:ext>
      </dgm:extLst>
    </dgm:pt>
    <dgm:pt modelId="{6907B05C-7C59-4A8C-A28E-B63CB65DFA1E}" type="pres">
      <dgm:prSet presAssocID="{9E35B834-8FF1-4C13-8146-48BD5B961EFE}" presName="spaceRect" presStyleCnt="0"/>
      <dgm:spPr/>
    </dgm:pt>
    <dgm:pt modelId="{F5196F6F-D14F-4120-B701-1006CF033A86}" type="pres">
      <dgm:prSet presAssocID="{9E35B834-8FF1-4C13-8146-48BD5B961EFE}" presName="textRect" presStyleLbl="revTx" presStyleIdx="5" presStyleCnt="6">
        <dgm:presLayoutVars>
          <dgm:chMax val="1"/>
          <dgm:chPref val="1"/>
        </dgm:presLayoutVars>
      </dgm:prSet>
      <dgm:spPr/>
    </dgm:pt>
  </dgm:ptLst>
  <dgm:cxnLst>
    <dgm:cxn modelId="{175E8710-49CF-4315-AC03-B0E151D03762}" srcId="{1A54E1A3-3B8B-4031-AB7F-25F7AEB5535B}" destId="{E1BA4EDE-76EE-482A-9A09-EAE69652DD97}" srcOrd="2" destOrd="0" parTransId="{96F986B2-0296-44F9-B5AA-8A6B363FE4D2}" sibTransId="{ECAEFEB0-9F78-43A3-B51C-8EE2D1893E59}"/>
    <dgm:cxn modelId="{803C1F2B-82DF-4644-AF3A-597538F7B645}" type="presOf" srcId="{E5F4A370-DEE0-473A-A8D6-55963FCA76EB}" destId="{ED71287C-B8D5-43F2-BA9D-AA22B7ED74C7}" srcOrd="0" destOrd="0" presId="urn:microsoft.com/office/officeart/2018/2/layout/IconCircleList"/>
    <dgm:cxn modelId="{D913303C-5DBF-42D9-B194-7A91A1D82F25}" type="presOf" srcId="{ECAEFEB0-9F78-43A3-B51C-8EE2D1893E59}" destId="{781B85F7-9F36-447F-9E13-A8AAC74A307A}" srcOrd="0" destOrd="0" presId="urn:microsoft.com/office/officeart/2018/2/layout/IconCircleList"/>
    <dgm:cxn modelId="{EC73E76E-C9AA-4E65-B3E7-82F0992728F2}" type="presOf" srcId="{ACA5ABF2-2361-46AE-8B8E-308BFFDAFBC9}" destId="{6FD14EF2-8401-4EB0-BFFE-58E75105F498}" srcOrd="0" destOrd="0" presId="urn:microsoft.com/office/officeart/2018/2/layout/IconCircleList"/>
    <dgm:cxn modelId="{5DB9C273-55B6-46AA-9837-DFF333352700}" type="presOf" srcId="{3046D747-2B9B-434E-A2A1-A6E9C9D10AEC}" destId="{356EFF08-A831-4590-98FA-48A9050A8B52}" srcOrd="0" destOrd="0" presId="urn:microsoft.com/office/officeart/2018/2/layout/IconCircleList"/>
    <dgm:cxn modelId="{B20E3D58-BAAF-4007-874C-704CB5903F32}" srcId="{1A54E1A3-3B8B-4031-AB7F-25F7AEB5535B}" destId="{9E35B834-8FF1-4C13-8146-48BD5B961EFE}" srcOrd="5" destOrd="0" parTransId="{DCC06187-AFD9-464F-A22E-6BF46B4C7DF8}" sibTransId="{3A531071-9064-4253-B515-5F158F403144}"/>
    <dgm:cxn modelId="{23312A8F-E491-4C72-ADA1-06DB9A1F34A0}" srcId="{1A54E1A3-3B8B-4031-AB7F-25F7AEB5535B}" destId="{2201B4DC-4373-4CDF-9F04-C7999715169C}" srcOrd="1" destOrd="0" parTransId="{D039AEA8-65EE-4C07-9F4E-3B15A3E12C4D}" sibTransId="{F7F4E813-D74A-4884-A835-00C364ECDEFB}"/>
    <dgm:cxn modelId="{AD3798A6-2A13-4F4E-8620-D1E8659E86EC}" type="presOf" srcId="{F7F4E813-D74A-4884-A835-00C364ECDEFB}" destId="{B1C417C3-8C98-4C73-9AD1-03B4FBEB9E23}" srcOrd="0" destOrd="0" presId="urn:microsoft.com/office/officeart/2018/2/layout/IconCircleList"/>
    <dgm:cxn modelId="{9CC29CAA-4CC1-4B24-9081-867612800947}" type="presOf" srcId="{1A54E1A3-3B8B-4031-AB7F-25F7AEB5535B}" destId="{41C14B32-AEDE-4E33-9741-AA8AB730343A}" srcOrd="0" destOrd="0" presId="urn:microsoft.com/office/officeart/2018/2/layout/IconCircleList"/>
    <dgm:cxn modelId="{FC061AAD-0C35-4994-897F-65EE34EE5909}" srcId="{1A54E1A3-3B8B-4031-AB7F-25F7AEB5535B}" destId="{CB1162F6-6A0B-4E14-BDDD-8A517D00EB4A}" srcOrd="4" destOrd="0" parTransId="{F08E752B-2C12-4929-8527-A5C94AC1C3E8}" sibTransId="{E5F4A370-DEE0-473A-A8D6-55963FCA76EB}"/>
    <dgm:cxn modelId="{034F22B6-8D3E-4F5D-A904-D852E3F39774}" srcId="{1A54E1A3-3B8B-4031-AB7F-25F7AEB5535B}" destId="{DF2640C8-FDDD-4B50-A69F-BE856F4C9050}" srcOrd="0" destOrd="0" parTransId="{C82F7D21-D872-4141-B1CF-37F46E5C6B09}" sibTransId="{ACA5ABF2-2361-46AE-8B8E-308BFFDAFBC9}"/>
    <dgm:cxn modelId="{95B945BA-91CD-4BA2-82FE-10F196C5A43D}" type="presOf" srcId="{AA9B636E-FCC8-43B2-AEA2-4EABEDE4FBBA}" destId="{4914FD23-7255-446E-8E89-18AE83562F9B}" srcOrd="0" destOrd="0" presId="urn:microsoft.com/office/officeart/2018/2/layout/IconCircleList"/>
    <dgm:cxn modelId="{4A5E71C0-EEFC-4741-A55E-0853FACAE051}" srcId="{1A54E1A3-3B8B-4031-AB7F-25F7AEB5535B}" destId="{3046D747-2B9B-434E-A2A1-A6E9C9D10AEC}" srcOrd="3" destOrd="0" parTransId="{378FD26F-00B1-4DC9-A27D-00546EF5D3B6}" sibTransId="{AA9B636E-FCC8-43B2-AEA2-4EABEDE4FBBA}"/>
    <dgm:cxn modelId="{BBB8E6C2-0B0A-4530-8765-1D5C103D4C25}" type="presOf" srcId="{2201B4DC-4373-4CDF-9F04-C7999715169C}" destId="{5631D20C-B659-43FA-83C5-1BEF8742B798}" srcOrd="0" destOrd="0" presId="urn:microsoft.com/office/officeart/2018/2/layout/IconCircleList"/>
    <dgm:cxn modelId="{250CC9C9-70E6-40DB-9977-524121AD4BE9}" type="presOf" srcId="{E1BA4EDE-76EE-482A-9A09-EAE69652DD97}" destId="{8F7427A7-80BB-42E0-8226-1D158E219B4F}" srcOrd="0" destOrd="0" presId="urn:microsoft.com/office/officeart/2018/2/layout/IconCircleList"/>
    <dgm:cxn modelId="{67A80ED2-7C03-4CC2-95F2-D7F46B0431B3}" type="presOf" srcId="{9E35B834-8FF1-4C13-8146-48BD5B961EFE}" destId="{F5196F6F-D14F-4120-B701-1006CF033A86}" srcOrd="0" destOrd="0" presId="urn:microsoft.com/office/officeart/2018/2/layout/IconCircleList"/>
    <dgm:cxn modelId="{A1B263DD-2576-418F-9ECA-02B49AEBCA05}" type="presOf" srcId="{CB1162F6-6A0B-4E14-BDDD-8A517D00EB4A}" destId="{52384B79-0F09-46FD-9A1F-8EA79FEC6023}" srcOrd="0" destOrd="0" presId="urn:microsoft.com/office/officeart/2018/2/layout/IconCircleList"/>
    <dgm:cxn modelId="{261D20E0-092E-4235-A3CD-EB3F77718EAB}" type="presOf" srcId="{DF2640C8-FDDD-4B50-A69F-BE856F4C9050}" destId="{84032B72-BB43-4875-9869-1162F7BF163E}" srcOrd="0" destOrd="0" presId="urn:microsoft.com/office/officeart/2018/2/layout/IconCircleList"/>
    <dgm:cxn modelId="{5CB83F5D-D809-4AD4-8C14-00C79645C5B8}" type="presParOf" srcId="{41C14B32-AEDE-4E33-9741-AA8AB730343A}" destId="{FCE6A7CD-6DF1-4AE1-82CB-DEA133F2DD35}" srcOrd="0" destOrd="0" presId="urn:microsoft.com/office/officeart/2018/2/layout/IconCircleList"/>
    <dgm:cxn modelId="{F08B475A-BE04-4BF2-87A7-2D957E0CADF8}" type="presParOf" srcId="{FCE6A7CD-6DF1-4AE1-82CB-DEA133F2DD35}" destId="{6636474C-3057-4694-94B4-353B2E8E8D2C}" srcOrd="0" destOrd="0" presId="urn:microsoft.com/office/officeart/2018/2/layout/IconCircleList"/>
    <dgm:cxn modelId="{411D316C-9AD7-4B6B-8D9D-5A2E167E8B52}" type="presParOf" srcId="{6636474C-3057-4694-94B4-353B2E8E8D2C}" destId="{5D05168D-8693-4AC3-8A6B-1F1500B5A34E}" srcOrd="0" destOrd="0" presId="urn:microsoft.com/office/officeart/2018/2/layout/IconCircleList"/>
    <dgm:cxn modelId="{D22F0BDE-84FA-4963-AA83-9DE65F75CBFF}" type="presParOf" srcId="{6636474C-3057-4694-94B4-353B2E8E8D2C}" destId="{3C0EF3C1-57B7-4233-BD84-C1DF9318E3A6}" srcOrd="1" destOrd="0" presId="urn:microsoft.com/office/officeart/2018/2/layout/IconCircleList"/>
    <dgm:cxn modelId="{7663ED8E-F00B-4DE5-A3C1-A6C2D9B1B5B3}" type="presParOf" srcId="{6636474C-3057-4694-94B4-353B2E8E8D2C}" destId="{F636B5A8-242F-449D-AF5D-36FD070ACBCC}" srcOrd="2" destOrd="0" presId="urn:microsoft.com/office/officeart/2018/2/layout/IconCircleList"/>
    <dgm:cxn modelId="{AF623904-B14C-4BE1-AEBE-DCFE533AFC9A}" type="presParOf" srcId="{6636474C-3057-4694-94B4-353B2E8E8D2C}" destId="{84032B72-BB43-4875-9869-1162F7BF163E}" srcOrd="3" destOrd="0" presId="urn:microsoft.com/office/officeart/2018/2/layout/IconCircleList"/>
    <dgm:cxn modelId="{A3B4F590-3E16-4A19-A4B6-EE01D0FC0B6C}" type="presParOf" srcId="{FCE6A7CD-6DF1-4AE1-82CB-DEA133F2DD35}" destId="{6FD14EF2-8401-4EB0-BFFE-58E75105F498}" srcOrd="1" destOrd="0" presId="urn:microsoft.com/office/officeart/2018/2/layout/IconCircleList"/>
    <dgm:cxn modelId="{ED1687CE-4046-4F60-858E-7EA06DE011D4}" type="presParOf" srcId="{FCE6A7CD-6DF1-4AE1-82CB-DEA133F2DD35}" destId="{C61AE78E-AD9A-47DB-B499-BAC2728B4384}" srcOrd="2" destOrd="0" presId="urn:microsoft.com/office/officeart/2018/2/layout/IconCircleList"/>
    <dgm:cxn modelId="{DC60015F-AD25-4C73-8C52-160315AD21F4}" type="presParOf" srcId="{C61AE78E-AD9A-47DB-B499-BAC2728B4384}" destId="{3617613B-79A7-4CA9-970A-5A0DBBE7E97B}" srcOrd="0" destOrd="0" presId="urn:microsoft.com/office/officeart/2018/2/layout/IconCircleList"/>
    <dgm:cxn modelId="{9203EEE5-E75E-495C-9C16-1FFB0FCDA815}" type="presParOf" srcId="{C61AE78E-AD9A-47DB-B499-BAC2728B4384}" destId="{91685F51-D346-47E6-96EC-67A4BFB06F0B}" srcOrd="1" destOrd="0" presId="urn:microsoft.com/office/officeart/2018/2/layout/IconCircleList"/>
    <dgm:cxn modelId="{03F462AC-EA82-4FEC-B889-DF914E49AAEE}" type="presParOf" srcId="{C61AE78E-AD9A-47DB-B499-BAC2728B4384}" destId="{415327E0-0F58-437A-8EA8-123C98332748}" srcOrd="2" destOrd="0" presId="urn:microsoft.com/office/officeart/2018/2/layout/IconCircleList"/>
    <dgm:cxn modelId="{A13CC31F-0BAF-47AC-B87B-F66636274E9B}" type="presParOf" srcId="{C61AE78E-AD9A-47DB-B499-BAC2728B4384}" destId="{5631D20C-B659-43FA-83C5-1BEF8742B798}" srcOrd="3" destOrd="0" presId="urn:microsoft.com/office/officeart/2018/2/layout/IconCircleList"/>
    <dgm:cxn modelId="{F64502C0-7415-4723-925F-CF841304FCBC}" type="presParOf" srcId="{FCE6A7CD-6DF1-4AE1-82CB-DEA133F2DD35}" destId="{B1C417C3-8C98-4C73-9AD1-03B4FBEB9E23}" srcOrd="3" destOrd="0" presId="urn:microsoft.com/office/officeart/2018/2/layout/IconCircleList"/>
    <dgm:cxn modelId="{5D954574-52F7-4E1E-93F0-0FEFBB37F4C3}" type="presParOf" srcId="{FCE6A7CD-6DF1-4AE1-82CB-DEA133F2DD35}" destId="{6971410C-2F1F-4043-8657-F859F6581EE9}" srcOrd="4" destOrd="0" presId="urn:microsoft.com/office/officeart/2018/2/layout/IconCircleList"/>
    <dgm:cxn modelId="{6823CEC1-4A27-4033-A2CC-554F446648D4}" type="presParOf" srcId="{6971410C-2F1F-4043-8657-F859F6581EE9}" destId="{CAAC708C-AA3C-4D27-83BB-E31DA0EC66F1}" srcOrd="0" destOrd="0" presId="urn:microsoft.com/office/officeart/2018/2/layout/IconCircleList"/>
    <dgm:cxn modelId="{F9F6F79D-845C-4957-9580-8C56B6BF2D77}" type="presParOf" srcId="{6971410C-2F1F-4043-8657-F859F6581EE9}" destId="{BCCF3D0B-B1A1-44BC-9E2E-771392E53DD9}" srcOrd="1" destOrd="0" presId="urn:microsoft.com/office/officeart/2018/2/layout/IconCircleList"/>
    <dgm:cxn modelId="{39BB5735-EDB1-4F79-9FC5-819901144E2E}" type="presParOf" srcId="{6971410C-2F1F-4043-8657-F859F6581EE9}" destId="{A32D7309-F381-4F79-9417-0035D537AE9B}" srcOrd="2" destOrd="0" presId="urn:microsoft.com/office/officeart/2018/2/layout/IconCircleList"/>
    <dgm:cxn modelId="{2B7143F9-0110-455B-BC7D-1E6ECA5BEBDE}" type="presParOf" srcId="{6971410C-2F1F-4043-8657-F859F6581EE9}" destId="{8F7427A7-80BB-42E0-8226-1D158E219B4F}" srcOrd="3" destOrd="0" presId="urn:microsoft.com/office/officeart/2018/2/layout/IconCircleList"/>
    <dgm:cxn modelId="{C6903C70-BFAF-49D2-BD42-54F49C28EEED}" type="presParOf" srcId="{FCE6A7CD-6DF1-4AE1-82CB-DEA133F2DD35}" destId="{781B85F7-9F36-447F-9E13-A8AAC74A307A}" srcOrd="5" destOrd="0" presId="urn:microsoft.com/office/officeart/2018/2/layout/IconCircleList"/>
    <dgm:cxn modelId="{A8794B4B-DB3F-4E6B-9FFF-E7EB411DB0F8}" type="presParOf" srcId="{FCE6A7CD-6DF1-4AE1-82CB-DEA133F2DD35}" destId="{E90651FB-F5EF-4A7D-AA55-BDAF8C534C6A}" srcOrd="6" destOrd="0" presId="urn:microsoft.com/office/officeart/2018/2/layout/IconCircleList"/>
    <dgm:cxn modelId="{61B6AB06-DC5C-425C-97BA-67A0E6D6E844}" type="presParOf" srcId="{E90651FB-F5EF-4A7D-AA55-BDAF8C534C6A}" destId="{303236B4-77CB-4F52-AD30-924F812F2B43}" srcOrd="0" destOrd="0" presId="urn:microsoft.com/office/officeart/2018/2/layout/IconCircleList"/>
    <dgm:cxn modelId="{E1865D9B-59F3-428D-AF37-6711F6FB163E}" type="presParOf" srcId="{E90651FB-F5EF-4A7D-AA55-BDAF8C534C6A}" destId="{A98922D8-FF40-4953-8A1B-708EE93F1F0E}" srcOrd="1" destOrd="0" presId="urn:microsoft.com/office/officeart/2018/2/layout/IconCircleList"/>
    <dgm:cxn modelId="{DA0E63F0-A384-4B6B-93F6-FEED74F1A2C7}" type="presParOf" srcId="{E90651FB-F5EF-4A7D-AA55-BDAF8C534C6A}" destId="{82B7DD93-DBAE-4EA5-A4FB-947C01446A93}" srcOrd="2" destOrd="0" presId="urn:microsoft.com/office/officeart/2018/2/layout/IconCircleList"/>
    <dgm:cxn modelId="{560BA2B2-3C79-4857-8B23-B15F1941A3CD}" type="presParOf" srcId="{E90651FB-F5EF-4A7D-AA55-BDAF8C534C6A}" destId="{356EFF08-A831-4590-98FA-48A9050A8B52}" srcOrd="3" destOrd="0" presId="urn:microsoft.com/office/officeart/2018/2/layout/IconCircleList"/>
    <dgm:cxn modelId="{6A79A8D5-DB02-4F1D-BF03-2E8BE36DA40C}" type="presParOf" srcId="{FCE6A7CD-6DF1-4AE1-82CB-DEA133F2DD35}" destId="{4914FD23-7255-446E-8E89-18AE83562F9B}" srcOrd="7" destOrd="0" presId="urn:microsoft.com/office/officeart/2018/2/layout/IconCircleList"/>
    <dgm:cxn modelId="{197B719E-674A-4D8A-ADF2-9AF00E9FBA8A}" type="presParOf" srcId="{FCE6A7CD-6DF1-4AE1-82CB-DEA133F2DD35}" destId="{1921617E-FF92-4E87-B53A-8D79FAEDBDCF}" srcOrd="8" destOrd="0" presId="urn:microsoft.com/office/officeart/2018/2/layout/IconCircleList"/>
    <dgm:cxn modelId="{3FBA057F-D903-446B-83BC-998ECFF28E0E}" type="presParOf" srcId="{1921617E-FF92-4E87-B53A-8D79FAEDBDCF}" destId="{044B68F6-F9F3-43EB-8F03-16AFA28B01E2}" srcOrd="0" destOrd="0" presId="urn:microsoft.com/office/officeart/2018/2/layout/IconCircleList"/>
    <dgm:cxn modelId="{8BE2C31A-7CFE-49EF-B833-72D7517DD434}" type="presParOf" srcId="{1921617E-FF92-4E87-B53A-8D79FAEDBDCF}" destId="{65CBE187-B1E1-47F2-BF18-417089C7BABC}" srcOrd="1" destOrd="0" presId="urn:microsoft.com/office/officeart/2018/2/layout/IconCircleList"/>
    <dgm:cxn modelId="{C31B5756-A271-4530-AD8B-A630118FCDC2}" type="presParOf" srcId="{1921617E-FF92-4E87-B53A-8D79FAEDBDCF}" destId="{CBD70323-1843-47AC-82A4-6703BCC2AA3B}" srcOrd="2" destOrd="0" presId="urn:microsoft.com/office/officeart/2018/2/layout/IconCircleList"/>
    <dgm:cxn modelId="{60841291-5170-4FB0-9667-2AE8308C7DD9}" type="presParOf" srcId="{1921617E-FF92-4E87-B53A-8D79FAEDBDCF}" destId="{52384B79-0F09-46FD-9A1F-8EA79FEC6023}" srcOrd="3" destOrd="0" presId="urn:microsoft.com/office/officeart/2018/2/layout/IconCircleList"/>
    <dgm:cxn modelId="{935A12C3-FAB1-46A2-B87C-DA8C77C83180}" type="presParOf" srcId="{FCE6A7CD-6DF1-4AE1-82CB-DEA133F2DD35}" destId="{ED71287C-B8D5-43F2-BA9D-AA22B7ED74C7}" srcOrd="9" destOrd="0" presId="urn:microsoft.com/office/officeart/2018/2/layout/IconCircleList"/>
    <dgm:cxn modelId="{B746E124-B268-4B87-86A8-040F8F3870DD}" type="presParOf" srcId="{FCE6A7CD-6DF1-4AE1-82CB-DEA133F2DD35}" destId="{8072F460-D445-4180-92BA-5E2DF003EB90}" srcOrd="10" destOrd="0" presId="urn:microsoft.com/office/officeart/2018/2/layout/IconCircleList"/>
    <dgm:cxn modelId="{16D0C4DD-DBDF-4287-BF28-AC70280F888B}" type="presParOf" srcId="{8072F460-D445-4180-92BA-5E2DF003EB90}" destId="{85D6D9DB-9BCD-4BD0-A191-CFDDF75327E7}" srcOrd="0" destOrd="0" presId="urn:microsoft.com/office/officeart/2018/2/layout/IconCircleList"/>
    <dgm:cxn modelId="{C0735C8C-D5EB-49B8-AFB3-E91E3B169D2B}" type="presParOf" srcId="{8072F460-D445-4180-92BA-5E2DF003EB90}" destId="{33107AB3-8A0D-45F5-A1E0-CDDA79CEAE56}" srcOrd="1" destOrd="0" presId="urn:microsoft.com/office/officeart/2018/2/layout/IconCircleList"/>
    <dgm:cxn modelId="{D1ACAF3F-D6A3-4232-B6AE-BD92891C4D90}" type="presParOf" srcId="{8072F460-D445-4180-92BA-5E2DF003EB90}" destId="{6907B05C-7C59-4A8C-A28E-B63CB65DFA1E}" srcOrd="2" destOrd="0" presId="urn:microsoft.com/office/officeart/2018/2/layout/IconCircleList"/>
    <dgm:cxn modelId="{5121CA81-F115-4436-8F62-729AE1804A5E}" type="presParOf" srcId="{8072F460-D445-4180-92BA-5E2DF003EB90}" destId="{F5196F6F-D14F-4120-B701-1006CF033A8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05168D-8693-4AC3-8A6B-1F1500B5A34E}">
      <dsp:nvSpPr>
        <dsp:cNvPr id="0" name=""/>
        <dsp:cNvSpPr/>
      </dsp:nvSpPr>
      <dsp:spPr>
        <a:xfrm>
          <a:off x="344932" y="844143"/>
          <a:ext cx="812133" cy="812133"/>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3C0EF3C1-57B7-4233-BD84-C1DF9318E3A6}">
      <dsp:nvSpPr>
        <dsp:cNvPr id="0" name=""/>
        <dsp:cNvSpPr/>
      </dsp:nvSpPr>
      <dsp:spPr>
        <a:xfrm>
          <a:off x="515480" y="1014691"/>
          <a:ext cx="471037" cy="4710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84032B72-BB43-4875-9869-1162F7BF163E}">
      <dsp:nvSpPr>
        <dsp:cNvPr id="0" name=""/>
        <dsp:cNvSpPr/>
      </dsp:nvSpPr>
      <dsp:spPr>
        <a:xfrm>
          <a:off x="1331094" y="844143"/>
          <a:ext cx="1914313" cy="8121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IN" sz="1400" kern="1200" dirty="0"/>
            <a:t>Data Cleaning: Various functions &amp; tools like Trim(), Proper(), Find &amp; Replace, Left(), Right() &amp; filter() have been used in cleaning the dataset </a:t>
          </a:r>
          <a:endParaRPr lang="en-US" sz="1400" kern="1200" dirty="0"/>
        </a:p>
      </dsp:txBody>
      <dsp:txXfrm>
        <a:off x="1331094" y="844143"/>
        <a:ext cx="1914313" cy="812133"/>
      </dsp:txXfrm>
    </dsp:sp>
    <dsp:sp modelId="{3617613B-79A7-4CA9-970A-5A0DBBE7E97B}">
      <dsp:nvSpPr>
        <dsp:cNvPr id="0" name=""/>
        <dsp:cNvSpPr/>
      </dsp:nvSpPr>
      <dsp:spPr>
        <a:xfrm>
          <a:off x="3578962" y="844143"/>
          <a:ext cx="812133" cy="812133"/>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91685F51-D346-47E6-96EC-67A4BFB06F0B}">
      <dsp:nvSpPr>
        <dsp:cNvPr id="0" name=""/>
        <dsp:cNvSpPr/>
      </dsp:nvSpPr>
      <dsp:spPr>
        <a:xfrm>
          <a:off x="3749510" y="1014691"/>
          <a:ext cx="471037" cy="4710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5631D20C-B659-43FA-83C5-1BEF8742B798}">
      <dsp:nvSpPr>
        <dsp:cNvPr id="0" name=""/>
        <dsp:cNvSpPr/>
      </dsp:nvSpPr>
      <dsp:spPr>
        <a:xfrm>
          <a:off x="4565123" y="844143"/>
          <a:ext cx="1914313" cy="8121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IN" sz="1400" kern="1200" dirty="0"/>
            <a:t>Data Enrichment: Enhanced the functionality of dataset by using functions like </a:t>
          </a:r>
          <a:r>
            <a:rPr lang="en-IN" sz="1400" kern="1200" dirty="0" err="1"/>
            <a:t>vlookup</a:t>
          </a:r>
          <a:r>
            <a:rPr lang="en-IN" sz="1400" kern="1200" dirty="0"/>
            <a:t>() and Index() to search for various key performance variables.</a:t>
          </a:r>
          <a:endParaRPr lang="en-US" sz="1400" kern="1200" dirty="0"/>
        </a:p>
      </dsp:txBody>
      <dsp:txXfrm>
        <a:off x="4565123" y="844143"/>
        <a:ext cx="1914313" cy="812133"/>
      </dsp:txXfrm>
    </dsp:sp>
    <dsp:sp modelId="{CAAC708C-AA3C-4D27-83BB-E31DA0EC66F1}">
      <dsp:nvSpPr>
        <dsp:cNvPr id="0" name=""/>
        <dsp:cNvSpPr/>
      </dsp:nvSpPr>
      <dsp:spPr>
        <a:xfrm>
          <a:off x="6812992" y="844143"/>
          <a:ext cx="812133" cy="812133"/>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BCCF3D0B-B1A1-44BC-9E2E-771392E53DD9}">
      <dsp:nvSpPr>
        <dsp:cNvPr id="0" name=""/>
        <dsp:cNvSpPr/>
      </dsp:nvSpPr>
      <dsp:spPr>
        <a:xfrm>
          <a:off x="6983540" y="1014691"/>
          <a:ext cx="471037" cy="4710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8F7427A7-80BB-42E0-8226-1D158E219B4F}">
      <dsp:nvSpPr>
        <dsp:cNvPr id="0" name=""/>
        <dsp:cNvSpPr/>
      </dsp:nvSpPr>
      <dsp:spPr>
        <a:xfrm>
          <a:off x="7799153" y="844143"/>
          <a:ext cx="1914313" cy="8121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IN" sz="1400" kern="1200" dirty="0"/>
            <a:t>Data Aggregation: Functions like AVERAGEIF(), MAX(), MIN(), SUMIF(), COUNTIF() have been used to derive specific metrics out of the data set.</a:t>
          </a:r>
          <a:endParaRPr lang="en-US" sz="1400" kern="1200" dirty="0"/>
        </a:p>
      </dsp:txBody>
      <dsp:txXfrm>
        <a:off x="7799153" y="844143"/>
        <a:ext cx="1914313" cy="812133"/>
      </dsp:txXfrm>
    </dsp:sp>
    <dsp:sp modelId="{303236B4-77CB-4F52-AD30-924F812F2B43}">
      <dsp:nvSpPr>
        <dsp:cNvPr id="0" name=""/>
        <dsp:cNvSpPr/>
      </dsp:nvSpPr>
      <dsp:spPr>
        <a:xfrm>
          <a:off x="344932" y="2334750"/>
          <a:ext cx="812133" cy="812133"/>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A98922D8-FF40-4953-8A1B-708EE93F1F0E}">
      <dsp:nvSpPr>
        <dsp:cNvPr id="0" name=""/>
        <dsp:cNvSpPr/>
      </dsp:nvSpPr>
      <dsp:spPr>
        <a:xfrm>
          <a:off x="515480" y="2505298"/>
          <a:ext cx="471037" cy="4710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356EFF08-A831-4590-98FA-48A9050A8B52}">
      <dsp:nvSpPr>
        <dsp:cNvPr id="0" name=""/>
        <dsp:cNvSpPr/>
      </dsp:nvSpPr>
      <dsp:spPr>
        <a:xfrm>
          <a:off x="1331094" y="2334750"/>
          <a:ext cx="1914313" cy="8121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IN" sz="1400" kern="1200" dirty="0"/>
            <a:t>Trend Analysis: Deployed various pivot tables and their respective time series charts to determine trendline of the performance.</a:t>
          </a:r>
          <a:endParaRPr lang="en-US" sz="1400" kern="1200" dirty="0"/>
        </a:p>
      </dsp:txBody>
      <dsp:txXfrm>
        <a:off x="1331094" y="2334750"/>
        <a:ext cx="1914313" cy="812133"/>
      </dsp:txXfrm>
    </dsp:sp>
    <dsp:sp modelId="{044B68F6-F9F3-43EB-8F03-16AFA28B01E2}">
      <dsp:nvSpPr>
        <dsp:cNvPr id="0" name=""/>
        <dsp:cNvSpPr/>
      </dsp:nvSpPr>
      <dsp:spPr>
        <a:xfrm>
          <a:off x="3578962" y="2334750"/>
          <a:ext cx="812133" cy="812133"/>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65CBE187-B1E1-47F2-BF18-417089C7BABC}">
      <dsp:nvSpPr>
        <dsp:cNvPr id="0" name=""/>
        <dsp:cNvSpPr/>
      </dsp:nvSpPr>
      <dsp:spPr>
        <a:xfrm>
          <a:off x="3749510" y="2505298"/>
          <a:ext cx="471037" cy="4710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52384B79-0F09-46FD-9A1F-8EA79FEC6023}">
      <dsp:nvSpPr>
        <dsp:cNvPr id="0" name=""/>
        <dsp:cNvSpPr/>
      </dsp:nvSpPr>
      <dsp:spPr>
        <a:xfrm>
          <a:off x="4565123" y="2334750"/>
          <a:ext cx="1914313" cy="8121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IN" sz="1400" kern="1200" dirty="0"/>
            <a:t>Platform Segmentation: Categorized the platform used to identify the user activity in each of them</a:t>
          </a:r>
          <a:endParaRPr lang="en-US" sz="1400" kern="1200" dirty="0"/>
        </a:p>
      </dsp:txBody>
      <dsp:txXfrm>
        <a:off x="4565123" y="2334750"/>
        <a:ext cx="1914313" cy="812133"/>
      </dsp:txXfrm>
    </dsp:sp>
    <dsp:sp modelId="{85D6D9DB-9BCD-4BD0-A191-CFDDF75327E7}">
      <dsp:nvSpPr>
        <dsp:cNvPr id="0" name=""/>
        <dsp:cNvSpPr/>
      </dsp:nvSpPr>
      <dsp:spPr>
        <a:xfrm>
          <a:off x="6812992" y="2334750"/>
          <a:ext cx="812133" cy="812133"/>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33107AB3-8A0D-45F5-A1E0-CDDA79CEAE56}">
      <dsp:nvSpPr>
        <dsp:cNvPr id="0" name=""/>
        <dsp:cNvSpPr/>
      </dsp:nvSpPr>
      <dsp:spPr>
        <a:xfrm>
          <a:off x="6983540" y="2505298"/>
          <a:ext cx="471037" cy="4710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F5196F6F-D14F-4120-B701-1006CF033A86}">
      <dsp:nvSpPr>
        <dsp:cNvPr id="0" name=""/>
        <dsp:cNvSpPr/>
      </dsp:nvSpPr>
      <dsp:spPr>
        <a:xfrm>
          <a:off x="7799153" y="2334750"/>
          <a:ext cx="1914313" cy="8121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IN" sz="1400" kern="1200" dirty="0"/>
            <a:t>Visualization: Using dynamic charts and slicers data visualizations have been shown to derive meaningful inferences.</a:t>
          </a:r>
          <a:endParaRPr lang="en-US" sz="1400" kern="1200" dirty="0"/>
        </a:p>
      </dsp:txBody>
      <dsp:txXfrm>
        <a:off x="7799153" y="2334750"/>
        <a:ext cx="1914313" cy="812133"/>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7/7/2026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729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7/7/2026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7/7/2026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233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7/7/2026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5761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7/7/2026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280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7/7/2026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1771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7/7/2026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70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7/7/2026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0130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7/7/2026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82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7/7/2026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730000" y="639097"/>
            <a:ext cx="4813072" cy="3494791"/>
          </a:xfrm>
        </p:spPr>
        <p:txBody>
          <a:bodyPr>
            <a:normAutofit/>
          </a:bodyPr>
          <a:lstStyle/>
          <a:p>
            <a:r>
              <a:rPr lang="en-US" dirty="0"/>
              <a:t>IT Tickets</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29999" y="4455621"/>
            <a:ext cx="4829101" cy="1238616"/>
          </a:xfrm>
        </p:spPr>
        <p:txBody>
          <a:bodyPr>
            <a:normAutofit/>
          </a:bodyPr>
          <a:lstStyle/>
          <a:p>
            <a:r>
              <a:rPr lang="en-US" dirty="0"/>
              <a:t>Performance</a:t>
            </a: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F183551D-3123-C300-9CE6-D3FA8EE13FA5}"/>
              </a:ext>
            </a:extLst>
          </p:cNvPr>
          <p:cNvPicPr>
            <a:picLocks noChangeAspect="1"/>
          </p:cNvPicPr>
          <p:nvPr/>
        </p:nvPicPr>
        <p:blipFill>
          <a:blip r:embed="rId4"/>
          <a:stretch>
            <a:fillRect/>
          </a:stretch>
        </p:blipFill>
        <p:spPr>
          <a:xfrm>
            <a:off x="-1" y="0"/>
            <a:ext cx="6096000" cy="6858000"/>
          </a:xfrm>
          <a:prstGeom prst="rect">
            <a:avLst/>
          </a:prstGeom>
        </p:spPr>
      </p:pic>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F0943-0437-A403-90B4-253CA962E199}"/>
              </a:ext>
            </a:extLst>
          </p:cNvPr>
          <p:cNvSpPr>
            <a:spLocks noGrp="1"/>
          </p:cNvSpPr>
          <p:nvPr>
            <p:ph type="title"/>
          </p:nvPr>
        </p:nvSpPr>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93DF7E92-03B9-54ED-CA28-686E892FB522}"/>
              </a:ext>
            </a:extLst>
          </p:cNvPr>
          <p:cNvSpPr>
            <a:spLocks noGrp="1"/>
          </p:cNvSpPr>
          <p:nvPr>
            <p:ph idx="1"/>
          </p:nvPr>
        </p:nvSpPr>
        <p:spPr/>
        <p:txBody>
          <a:bodyPr>
            <a:normAutofit/>
          </a:bodyPr>
          <a:lstStyle/>
          <a:p>
            <a:pPr fontAlgn="base">
              <a:buFont typeface="Wingdings" panose="05000000000000000000" pitchFamily="2" charset="2"/>
              <a:buChar char="q"/>
            </a:pPr>
            <a:r>
              <a:rPr lang="en-IN" dirty="0"/>
              <a:t>Problem Statement</a:t>
            </a:r>
          </a:p>
          <a:p>
            <a:pPr fontAlgn="base">
              <a:buFont typeface="Wingdings" panose="05000000000000000000" pitchFamily="2" charset="2"/>
              <a:buChar char="q"/>
            </a:pPr>
            <a:r>
              <a:rPr lang="en-IN" dirty="0"/>
              <a:t>Data Description</a:t>
            </a:r>
          </a:p>
          <a:p>
            <a:pPr fontAlgn="base">
              <a:buFont typeface="Wingdings" panose="05000000000000000000" pitchFamily="2" charset="2"/>
              <a:buChar char="q"/>
            </a:pPr>
            <a:r>
              <a:rPr lang="en-IN" dirty="0"/>
              <a:t>Objective Key Metrics and Visualizations</a:t>
            </a:r>
          </a:p>
          <a:p>
            <a:pPr fontAlgn="base">
              <a:buFont typeface="Wingdings" panose="05000000000000000000" pitchFamily="2" charset="2"/>
              <a:buChar char="q"/>
            </a:pPr>
            <a:r>
              <a:rPr lang="en-IN" dirty="0"/>
              <a:t>Subjective Question for Insights</a:t>
            </a:r>
          </a:p>
          <a:p>
            <a:pPr>
              <a:buFont typeface="Wingdings" panose="05000000000000000000" pitchFamily="2" charset="2"/>
              <a:buChar char="q"/>
            </a:pPr>
            <a:endParaRPr lang="en-IN" dirty="0"/>
          </a:p>
        </p:txBody>
      </p:sp>
    </p:spTree>
    <p:extLst>
      <p:ext uri="{BB962C8B-B14F-4D97-AF65-F5344CB8AC3E}">
        <p14:creationId xmlns:p14="http://schemas.microsoft.com/office/powerpoint/2010/main" val="1437758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8681B-A9A5-CE41-50F4-23CEF23C180E}"/>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7816FCC0-7B3D-B2E7-4A82-68530D091824}"/>
              </a:ext>
            </a:extLst>
          </p:cNvPr>
          <p:cNvSpPr>
            <a:spLocks noGrp="1"/>
          </p:cNvSpPr>
          <p:nvPr>
            <p:ph idx="1"/>
          </p:nvPr>
        </p:nvSpPr>
        <p:spPr/>
        <p:txBody>
          <a:bodyPr/>
          <a:lstStyle/>
          <a:p>
            <a:r>
              <a:rPr lang="en-IN" dirty="0"/>
              <a:t>The objective is to analyse the IT support ticket management system to understand the performance of IT agents, the efficiency of ticket resolution, and the satisfaction levels of employees. The analysis aims to identify high and low performers among IT agents, assess the overall effectiveness of the team, and pinpoint areas for improvement in the ticket resolution process. The ultimate goal is to make informed staffing decisions, including hiring, firing, and training, to enhance overall service quality and team performance.</a:t>
            </a:r>
          </a:p>
        </p:txBody>
      </p:sp>
    </p:spTree>
    <p:extLst>
      <p:ext uri="{BB962C8B-B14F-4D97-AF65-F5344CB8AC3E}">
        <p14:creationId xmlns:p14="http://schemas.microsoft.com/office/powerpoint/2010/main" val="1651825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915AC-0EBC-61AF-D307-F11D18F1D230}"/>
              </a:ext>
            </a:extLst>
          </p:cNvPr>
          <p:cNvSpPr>
            <a:spLocks noGrp="1"/>
          </p:cNvSpPr>
          <p:nvPr>
            <p:ph type="title"/>
          </p:nvPr>
        </p:nvSpPr>
        <p:spPr/>
        <p:txBody>
          <a:bodyPr/>
          <a:lstStyle/>
          <a:p>
            <a:r>
              <a:rPr lang="en-US" dirty="0"/>
              <a:t>Data Overview</a:t>
            </a:r>
            <a:endParaRPr lang="en-IN" dirty="0"/>
          </a:p>
        </p:txBody>
      </p:sp>
      <p:sp>
        <p:nvSpPr>
          <p:cNvPr id="3" name="Content Placeholder 2">
            <a:extLst>
              <a:ext uri="{FF2B5EF4-FFF2-40B4-BE49-F238E27FC236}">
                <a16:creationId xmlns:a16="http://schemas.microsoft.com/office/drawing/2014/main" id="{F429ED82-600D-5630-9FDC-301B5BC7821C}"/>
              </a:ext>
            </a:extLst>
          </p:cNvPr>
          <p:cNvSpPr>
            <a:spLocks noGrp="1"/>
          </p:cNvSpPr>
          <p:nvPr>
            <p:ph sz="half" idx="1"/>
          </p:nvPr>
        </p:nvSpPr>
        <p:spPr/>
        <p:txBody>
          <a:bodyPr>
            <a:normAutofit fontScale="70000" lnSpcReduction="20000"/>
          </a:bodyPr>
          <a:lstStyle/>
          <a:p>
            <a:pPr fontAlgn="base">
              <a:buFont typeface="Wingdings" panose="05000000000000000000" pitchFamily="2" charset="2"/>
              <a:buChar char="Ø"/>
            </a:pPr>
            <a:r>
              <a:rPr lang="en-IN" b="1" dirty="0"/>
              <a:t>Tickets Sheet: </a:t>
            </a:r>
            <a:r>
              <a:rPr lang="en-IN" dirty="0"/>
              <a:t>Contains information about IT support tickets.</a:t>
            </a:r>
            <a:endParaRPr lang="en-IN" sz="1600" dirty="0"/>
          </a:p>
          <a:p>
            <a:pPr fontAlgn="base">
              <a:buFont typeface="Wingdings" panose="05000000000000000000" pitchFamily="2" charset="2"/>
              <a:buChar char="§"/>
            </a:pPr>
            <a:r>
              <a:rPr lang="en-IN" b="1" dirty="0"/>
              <a:t>ID: </a:t>
            </a:r>
            <a:r>
              <a:rPr lang="en-IN" dirty="0"/>
              <a:t>Unique identifier for the ticket.</a:t>
            </a:r>
            <a:endParaRPr lang="en-IN" b="1" dirty="0"/>
          </a:p>
          <a:p>
            <a:pPr fontAlgn="base">
              <a:buFont typeface="Wingdings" panose="05000000000000000000" pitchFamily="2" charset="2"/>
              <a:buChar char="§"/>
            </a:pPr>
            <a:r>
              <a:rPr lang="en-IN" b="1" dirty="0"/>
              <a:t>Ticket </a:t>
            </a:r>
            <a:r>
              <a:rPr lang="en-IN" b="1" dirty="0" err="1"/>
              <a:t>Fecha</a:t>
            </a:r>
            <a:r>
              <a:rPr lang="en-IN" b="1" dirty="0"/>
              <a:t>: </a:t>
            </a:r>
            <a:r>
              <a:rPr lang="en-IN" dirty="0"/>
              <a:t>Date of the ticket.</a:t>
            </a:r>
            <a:endParaRPr lang="en-IN" b="1" dirty="0"/>
          </a:p>
          <a:p>
            <a:pPr fontAlgn="base">
              <a:buFont typeface="Wingdings" panose="05000000000000000000" pitchFamily="2" charset="2"/>
              <a:buChar char="§"/>
            </a:pPr>
            <a:r>
              <a:rPr lang="en-IN" b="1" dirty="0"/>
              <a:t>Employee ID:</a:t>
            </a:r>
            <a:r>
              <a:rPr lang="en-IN" dirty="0"/>
              <a:t> ID of the employee who raised the ticket.</a:t>
            </a:r>
            <a:endParaRPr lang="en-IN" b="1" dirty="0"/>
          </a:p>
          <a:p>
            <a:pPr fontAlgn="base">
              <a:buFont typeface="Wingdings" panose="05000000000000000000" pitchFamily="2" charset="2"/>
              <a:buChar char="§"/>
            </a:pPr>
            <a:r>
              <a:rPr lang="en-IN" b="1" dirty="0"/>
              <a:t>Agent ID:</a:t>
            </a:r>
            <a:r>
              <a:rPr lang="en-IN" dirty="0"/>
              <a:t> ID of the agent assigned to the ticket.</a:t>
            </a:r>
            <a:endParaRPr lang="en-IN" b="1" dirty="0"/>
          </a:p>
          <a:p>
            <a:pPr fontAlgn="base">
              <a:buFont typeface="Wingdings" panose="05000000000000000000" pitchFamily="2" charset="2"/>
              <a:buChar char="§"/>
            </a:pPr>
            <a:r>
              <a:rPr lang="en-IN" b="1" dirty="0"/>
              <a:t>Request Category:</a:t>
            </a:r>
            <a:r>
              <a:rPr lang="en-IN" dirty="0"/>
              <a:t> Category of the request (e.g., Login Access, System, Software).</a:t>
            </a:r>
            <a:endParaRPr lang="en-IN" b="1" dirty="0"/>
          </a:p>
          <a:p>
            <a:pPr fontAlgn="base">
              <a:buFont typeface="Wingdings" panose="05000000000000000000" pitchFamily="2" charset="2"/>
              <a:buChar char="§"/>
            </a:pPr>
            <a:r>
              <a:rPr lang="en-IN" b="1" dirty="0"/>
              <a:t>Issue Type: </a:t>
            </a:r>
            <a:r>
              <a:rPr lang="en-IN" dirty="0"/>
              <a:t>Type of issue (e.g., IT Error, IT Request).</a:t>
            </a:r>
            <a:endParaRPr lang="en-IN" b="1" dirty="0"/>
          </a:p>
          <a:p>
            <a:pPr fontAlgn="base">
              <a:buFont typeface="Wingdings" panose="05000000000000000000" pitchFamily="2" charset="2"/>
              <a:buChar char="§"/>
            </a:pPr>
            <a:r>
              <a:rPr lang="en-IN" b="1" dirty="0"/>
              <a:t>Severity:</a:t>
            </a:r>
            <a:r>
              <a:rPr lang="en-IN" dirty="0"/>
              <a:t> Severity of the issue.</a:t>
            </a:r>
          </a:p>
          <a:p>
            <a:pPr fontAlgn="base">
              <a:buFont typeface="Wingdings" panose="05000000000000000000" pitchFamily="2" charset="2"/>
              <a:buChar char="§"/>
            </a:pPr>
            <a:r>
              <a:rPr lang="en-IN" b="1" dirty="0"/>
              <a:t>Priority: </a:t>
            </a:r>
            <a:r>
              <a:rPr lang="en-IN" dirty="0"/>
              <a:t>Priority level of the issue.</a:t>
            </a:r>
            <a:endParaRPr lang="en-IN" b="1" dirty="0"/>
          </a:p>
        </p:txBody>
      </p:sp>
      <p:sp>
        <p:nvSpPr>
          <p:cNvPr id="4" name="Content Placeholder 3">
            <a:extLst>
              <a:ext uri="{FF2B5EF4-FFF2-40B4-BE49-F238E27FC236}">
                <a16:creationId xmlns:a16="http://schemas.microsoft.com/office/drawing/2014/main" id="{A0CBA421-E58D-6C17-8756-15453876F0E8}"/>
              </a:ext>
            </a:extLst>
          </p:cNvPr>
          <p:cNvSpPr>
            <a:spLocks noGrp="1"/>
          </p:cNvSpPr>
          <p:nvPr>
            <p:ph sz="half" idx="2"/>
          </p:nvPr>
        </p:nvSpPr>
        <p:spPr/>
        <p:txBody>
          <a:bodyPr>
            <a:normAutofit fontScale="70000" lnSpcReduction="20000"/>
          </a:bodyPr>
          <a:lstStyle/>
          <a:p>
            <a:pPr fontAlgn="base">
              <a:buFont typeface="Wingdings" panose="05000000000000000000" pitchFamily="2" charset="2"/>
              <a:buChar char="§"/>
            </a:pPr>
            <a:r>
              <a:rPr lang="en-IN" b="1" dirty="0"/>
              <a:t>Resolution Time (Days): </a:t>
            </a:r>
            <a:r>
              <a:rPr lang="en-IN" dirty="0"/>
              <a:t>Time taken to resolve the ticket.</a:t>
            </a:r>
            <a:endParaRPr lang="en-IN" b="1" dirty="0"/>
          </a:p>
          <a:p>
            <a:pPr fontAlgn="base">
              <a:buFont typeface="Wingdings" panose="05000000000000000000" pitchFamily="2" charset="2"/>
              <a:buChar char="§"/>
            </a:pPr>
            <a:r>
              <a:rPr lang="en-IN" b="1" dirty="0"/>
              <a:t>Satisfaction Rate: </a:t>
            </a:r>
            <a:r>
              <a:rPr lang="en-IN" dirty="0"/>
              <a:t>Satisfaction rate provided by the employee (1-5 scale).</a:t>
            </a:r>
            <a:br>
              <a:rPr lang="en-IN" dirty="0"/>
            </a:br>
            <a:endParaRPr lang="en-IN" dirty="0"/>
          </a:p>
          <a:p>
            <a:pPr fontAlgn="base">
              <a:buFont typeface="Wingdings" panose="05000000000000000000" pitchFamily="2" charset="2"/>
              <a:buChar char="Ø"/>
            </a:pPr>
            <a:r>
              <a:rPr lang="en-IN" b="1" dirty="0"/>
              <a:t>IT Agents: </a:t>
            </a:r>
            <a:r>
              <a:rPr lang="en-IN" dirty="0"/>
              <a:t>Contains information about IT agents.</a:t>
            </a:r>
          </a:p>
          <a:p>
            <a:pPr fontAlgn="base">
              <a:buFont typeface="Arial" panose="020B0604020202020204" pitchFamily="34" charset="0"/>
              <a:buChar char="•"/>
            </a:pPr>
            <a:r>
              <a:rPr lang="en-IN" b="1" dirty="0"/>
              <a:t>Agent ID: </a:t>
            </a:r>
            <a:r>
              <a:rPr lang="en-IN" dirty="0"/>
              <a:t>Unique identifier for the agent.</a:t>
            </a:r>
            <a:endParaRPr lang="en-IN" b="1" dirty="0"/>
          </a:p>
          <a:p>
            <a:pPr fontAlgn="base">
              <a:buFont typeface="Arial" panose="020B0604020202020204" pitchFamily="34" charset="0"/>
              <a:buChar char="•"/>
            </a:pPr>
            <a:r>
              <a:rPr lang="en-IN" b="1" dirty="0"/>
              <a:t>Full Name: </a:t>
            </a:r>
            <a:r>
              <a:rPr lang="en-IN" dirty="0"/>
              <a:t>Full name of the agent.</a:t>
            </a:r>
            <a:endParaRPr lang="en-IN" b="1" dirty="0"/>
          </a:p>
          <a:p>
            <a:pPr fontAlgn="base">
              <a:buFont typeface="Arial" panose="020B0604020202020204" pitchFamily="34" charset="0"/>
              <a:buChar char="•"/>
            </a:pPr>
            <a:r>
              <a:rPr lang="en-IN" b="1" dirty="0"/>
              <a:t>Email: </a:t>
            </a:r>
            <a:r>
              <a:rPr lang="en-IN" dirty="0"/>
              <a:t>Email address of the agent.</a:t>
            </a:r>
            <a:endParaRPr lang="en-IN" b="1" dirty="0"/>
          </a:p>
          <a:p>
            <a:pPr fontAlgn="base">
              <a:buFont typeface="Arial" panose="020B0604020202020204" pitchFamily="34" charset="0"/>
              <a:buChar char="•"/>
            </a:pPr>
            <a:r>
              <a:rPr lang="en-IN" b="1" dirty="0"/>
              <a:t>Year of Birth: </a:t>
            </a:r>
            <a:r>
              <a:rPr lang="en-IN" dirty="0"/>
              <a:t>Year the agent was born.</a:t>
            </a:r>
            <a:endParaRPr lang="en-IN" b="1" dirty="0"/>
          </a:p>
          <a:p>
            <a:pPr fontAlgn="base">
              <a:buFont typeface="Arial" panose="020B0604020202020204" pitchFamily="34" charset="0"/>
              <a:buChar char="•"/>
            </a:pPr>
            <a:r>
              <a:rPr lang="en-IN" b="1" dirty="0"/>
              <a:t>Month of Birth: </a:t>
            </a:r>
            <a:r>
              <a:rPr lang="en-IN" dirty="0"/>
              <a:t>Month the agent was born.</a:t>
            </a:r>
            <a:endParaRPr lang="en-IN" b="1" dirty="0"/>
          </a:p>
          <a:p>
            <a:pPr fontAlgn="base">
              <a:buFont typeface="Arial" panose="020B0604020202020204" pitchFamily="34" charset="0"/>
              <a:buChar char="•"/>
            </a:pPr>
            <a:r>
              <a:rPr lang="en-IN" b="1" dirty="0"/>
              <a:t>Day of Birth: </a:t>
            </a:r>
            <a:r>
              <a:rPr lang="en-IN" dirty="0"/>
              <a:t>Day the agent was born.</a:t>
            </a:r>
            <a:endParaRPr lang="en-IN" b="1" dirty="0"/>
          </a:p>
          <a:p>
            <a:endParaRPr lang="en-IN" dirty="0"/>
          </a:p>
        </p:txBody>
      </p:sp>
    </p:spTree>
    <p:extLst>
      <p:ext uri="{BB962C8B-B14F-4D97-AF65-F5344CB8AC3E}">
        <p14:creationId xmlns:p14="http://schemas.microsoft.com/office/powerpoint/2010/main" val="1023695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EA46A-F615-B55D-F6CF-608F43F03913}"/>
              </a:ext>
            </a:extLst>
          </p:cNvPr>
          <p:cNvSpPr>
            <a:spLocks noGrp="1"/>
          </p:cNvSpPr>
          <p:nvPr>
            <p:ph type="title"/>
          </p:nvPr>
        </p:nvSpPr>
        <p:spPr/>
        <p:txBody>
          <a:bodyPr/>
          <a:lstStyle/>
          <a:p>
            <a:r>
              <a:rPr lang="en-US" dirty="0"/>
              <a:t>Methodology</a:t>
            </a:r>
            <a:endParaRPr lang="en-IN" dirty="0"/>
          </a:p>
        </p:txBody>
      </p:sp>
      <p:graphicFrame>
        <p:nvGraphicFramePr>
          <p:cNvPr id="4" name="Content Placeholder 2">
            <a:extLst>
              <a:ext uri="{FF2B5EF4-FFF2-40B4-BE49-F238E27FC236}">
                <a16:creationId xmlns:a16="http://schemas.microsoft.com/office/drawing/2014/main" id="{1DC3305C-41D4-B0FA-A12E-6D176D801EF6}"/>
              </a:ext>
            </a:extLst>
          </p:cNvPr>
          <p:cNvGraphicFramePr>
            <a:graphicFrameLocks noGrp="1"/>
          </p:cNvGraphicFramePr>
          <p:nvPr>
            <p:ph idx="1"/>
            <p:extLst>
              <p:ext uri="{D42A27DB-BD31-4B8C-83A1-F6EECF244321}">
                <p14:modId xmlns:p14="http://schemas.microsoft.com/office/powerpoint/2010/main" val="3125105112"/>
              </p:ext>
            </p:extLst>
          </p:nvPr>
        </p:nvGraphicFramePr>
        <p:xfrm>
          <a:off x="1096963" y="1877961"/>
          <a:ext cx="10058400" cy="39910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336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9EA5A-90DA-1672-ED84-5FF8C887F9C1}"/>
              </a:ext>
            </a:extLst>
          </p:cNvPr>
          <p:cNvSpPr>
            <a:spLocks noGrp="1"/>
          </p:cNvSpPr>
          <p:nvPr>
            <p:ph type="title"/>
          </p:nvPr>
        </p:nvSpPr>
        <p:spPr/>
        <p:txBody>
          <a:bodyPr>
            <a:noAutofit/>
          </a:bodyPr>
          <a:lstStyle/>
          <a:p>
            <a:r>
              <a:rPr lang="en-GB" sz="3200" b="1" dirty="0"/>
              <a:t>If there is an investment, should it be used to hire more IT agents, improve training programs, or upgrade ticket management software?</a:t>
            </a:r>
            <a:endParaRPr lang="en-IN" sz="3200" dirty="0"/>
          </a:p>
        </p:txBody>
      </p:sp>
      <p:sp>
        <p:nvSpPr>
          <p:cNvPr id="4" name="Content Placeholder 3">
            <a:extLst>
              <a:ext uri="{FF2B5EF4-FFF2-40B4-BE49-F238E27FC236}">
                <a16:creationId xmlns:a16="http://schemas.microsoft.com/office/drawing/2014/main" id="{56130280-0E9F-85F7-451C-0C74737689D7}"/>
              </a:ext>
            </a:extLst>
          </p:cNvPr>
          <p:cNvSpPr>
            <a:spLocks noGrp="1"/>
          </p:cNvSpPr>
          <p:nvPr>
            <p:ph sz="half" idx="1"/>
          </p:nvPr>
        </p:nvSpPr>
        <p:spPr/>
        <p:txBody>
          <a:bodyPr>
            <a:normAutofit fontScale="92500" lnSpcReduction="10000"/>
          </a:bodyPr>
          <a:lstStyle/>
          <a:p>
            <a:pPr>
              <a:buFont typeface="Wingdings" panose="05000000000000000000" pitchFamily="2" charset="2"/>
              <a:buChar char="§"/>
            </a:pPr>
            <a:r>
              <a:rPr lang="en-IN" b="1" dirty="0"/>
              <a:t> System requests (39,002)</a:t>
            </a:r>
            <a:r>
              <a:rPr lang="en-IN" dirty="0"/>
              <a:t> are the highest, making them the most common IT support issue.</a:t>
            </a:r>
          </a:p>
          <a:p>
            <a:pPr>
              <a:buFont typeface="Wingdings" panose="05000000000000000000" pitchFamily="2" charset="2"/>
              <a:buChar char="§"/>
            </a:pPr>
            <a:r>
              <a:rPr lang="en-IN" b="1" dirty="0"/>
              <a:t> Login Access (29,193)</a:t>
            </a:r>
            <a:r>
              <a:rPr lang="en-IN" dirty="0"/>
              <a:t> is the second-largest category, indicating frequent account-related problems.</a:t>
            </a:r>
          </a:p>
          <a:p>
            <a:pPr>
              <a:buFont typeface="Wingdings" panose="05000000000000000000" pitchFamily="2" charset="2"/>
              <a:buChar char="§"/>
            </a:pPr>
            <a:r>
              <a:rPr lang="en-IN" b="1" dirty="0"/>
              <a:t> Software requests (19,570)</a:t>
            </a:r>
            <a:r>
              <a:rPr lang="en-IN" dirty="0"/>
              <a:t> occur moderately compared to other request types.</a:t>
            </a:r>
          </a:p>
          <a:p>
            <a:pPr>
              <a:buFont typeface="Wingdings" panose="05000000000000000000" pitchFamily="2" charset="2"/>
              <a:buChar char="§"/>
            </a:pPr>
            <a:r>
              <a:rPr lang="en-IN" b="1" dirty="0"/>
              <a:t> Hardware requests (9,733)</a:t>
            </a:r>
            <a:r>
              <a:rPr lang="en-IN" dirty="0"/>
              <a:t> are the lowest, suggesting fewer hardware-related issues.</a:t>
            </a:r>
          </a:p>
        </p:txBody>
      </p:sp>
      <p:graphicFrame>
        <p:nvGraphicFramePr>
          <p:cNvPr id="9" name="Content Placeholder 8">
            <a:extLst>
              <a:ext uri="{FF2B5EF4-FFF2-40B4-BE49-F238E27FC236}">
                <a16:creationId xmlns:a16="http://schemas.microsoft.com/office/drawing/2014/main" id="{AECF346A-A7BC-4887-B997-9BDCC7E5296F}"/>
              </a:ext>
            </a:extLst>
          </p:cNvPr>
          <p:cNvGraphicFramePr>
            <a:graphicFrameLocks noGrp="1"/>
          </p:cNvGraphicFramePr>
          <p:nvPr>
            <p:ph sz="half" idx="2"/>
          </p:nvPr>
        </p:nvGraphicFramePr>
        <p:xfrm>
          <a:off x="6516688" y="2120900"/>
          <a:ext cx="4638675" cy="37480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48640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A2C2C-6A59-D48E-19A5-FD7C3632DDA2}"/>
              </a:ext>
            </a:extLst>
          </p:cNvPr>
          <p:cNvSpPr>
            <a:spLocks noGrp="1"/>
          </p:cNvSpPr>
          <p:nvPr>
            <p:ph type="title"/>
          </p:nvPr>
        </p:nvSpPr>
        <p:spPr/>
        <p:txBody>
          <a:bodyPr>
            <a:normAutofit/>
          </a:bodyPr>
          <a:lstStyle/>
          <a:p>
            <a:r>
              <a:rPr lang="en-US" dirty="0"/>
              <a:t>Age Group wise Satisfaction.</a:t>
            </a:r>
            <a:endParaRPr lang="en-IN" dirty="0"/>
          </a:p>
        </p:txBody>
      </p:sp>
      <p:sp>
        <p:nvSpPr>
          <p:cNvPr id="9" name="Content Placeholder 8">
            <a:extLst>
              <a:ext uri="{FF2B5EF4-FFF2-40B4-BE49-F238E27FC236}">
                <a16:creationId xmlns:a16="http://schemas.microsoft.com/office/drawing/2014/main" id="{B331BA80-948D-8C5B-5250-D5B025C6A57B}"/>
              </a:ext>
            </a:extLst>
          </p:cNvPr>
          <p:cNvSpPr>
            <a:spLocks noGrp="1"/>
          </p:cNvSpPr>
          <p:nvPr>
            <p:ph sz="half" idx="1"/>
          </p:nvPr>
        </p:nvSpPr>
        <p:spPr/>
        <p:txBody>
          <a:bodyPr/>
          <a:lstStyle/>
          <a:p>
            <a:pPr>
              <a:buFont typeface="Wingdings" panose="05000000000000000000" pitchFamily="2" charset="2"/>
              <a:buChar char="§"/>
            </a:pPr>
            <a:r>
              <a:rPr lang="en-IN" dirty="0"/>
              <a:t> The 54–58 age group has the highest customer satisfaction (4.39).</a:t>
            </a:r>
          </a:p>
          <a:p>
            <a:pPr>
              <a:buFont typeface="Wingdings" panose="05000000000000000000" pitchFamily="2" charset="2"/>
              <a:buChar char="§"/>
            </a:pPr>
            <a:r>
              <a:rPr lang="en-IN" dirty="0"/>
              <a:t> The 34–38 age group records the lowest satisfaction (3.96).</a:t>
            </a:r>
          </a:p>
          <a:p>
            <a:pPr>
              <a:buFont typeface="Wingdings" panose="05000000000000000000" pitchFamily="2" charset="2"/>
              <a:buChar char="§"/>
            </a:pPr>
            <a:r>
              <a:rPr lang="en-IN" dirty="0"/>
              <a:t> The 29–33 age group also shows a high satisfaction score (4.21).</a:t>
            </a:r>
          </a:p>
          <a:p>
            <a:pPr>
              <a:buFont typeface="Wingdings" panose="05000000000000000000" pitchFamily="2" charset="2"/>
              <a:buChar char="§"/>
            </a:pPr>
            <a:r>
              <a:rPr lang="en-IN" dirty="0"/>
              <a:t> Overall, customer satisfaction remains above 4.0 across most age groups.</a:t>
            </a:r>
          </a:p>
        </p:txBody>
      </p:sp>
      <p:graphicFrame>
        <p:nvGraphicFramePr>
          <p:cNvPr id="5" name="Content Placeholder 4">
            <a:extLst>
              <a:ext uri="{FF2B5EF4-FFF2-40B4-BE49-F238E27FC236}">
                <a16:creationId xmlns:a16="http://schemas.microsoft.com/office/drawing/2014/main" id="{02AF045F-764E-4EFB-A627-753007E70632}"/>
              </a:ext>
            </a:extLst>
          </p:cNvPr>
          <p:cNvGraphicFramePr>
            <a:graphicFrameLocks noGrp="1"/>
          </p:cNvGraphicFramePr>
          <p:nvPr>
            <p:ph sz="half" idx="2"/>
            <p:extLst>
              <p:ext uri="{D42A27DB-BD31-4B8C-83A1-F6EECF244321}">
                <p14:modId xmlns:p14="http://schemas.microsoft.com/office/powerpoint/2010/main" val="3680398980"/>
              </p:ext>
            </p:extLst>
          </p:nvPr>
        </p:nvGraphicFramePr>
        <p:xfrm>
          <a:off x="6516688" y="2120900"/>
          <a:ext cx="4638675" cy="37480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78949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766EE-0121-8004-C54B-EDA8F10D4B92}"/>
              </a:ext>
            </a:extLst>
          </p:cNvPr>
          <p:cNvSpPr>
            <a:spLocks noGrp="1"/>
          </p:cNvSpPr>
          <p:nvPr>
            <p:ph type="title"/>
          </p:nvPr>
        </p:nvSpPr>
        <p:spPr/>
        <p:txBody>
          <a:bodyPr/>
          <a:lstStyle/>
          <a:p>
            <a:r>
              <a:rPr lang="en-US" dirty="0"/>
              <a:t>Tickets by Satisfaction Score</a:t>
            </a:r>
            <a:endParaRPr lang="en-IN" dirty="0"/>
          </a:p>
        </p:txBody>
      </p:sp>
      <p:sp>
        <p:nvSpPr>
          <p:cNvPr id="4" name="Content Placeholder 3">
            <a:extLst>
              <a:ext uri="{FF2B5EF4-FFF2-40B4-BE49-F238E27FC236}">
                <a16:creationId xmlns:a16="http://schemas.microsoft.com/office/drawing/2014/main" id="{F02E5DE1-8E6A-3860-04E1-DA3B4A4D2210}"/>
              </a:ext>
            </a:extLst>
          </p:cNvPr>
          <p:cNvSpPr>
            <a:spLocks noGrp="1"/>
          </p:cNvSpPr>
          <p:nvPr>
            <p:ph sz="half" idx="1"/>
          </p:nvPr>
        </p:nvSpPr>
        <p:spPr/>
        <p:txBody>
          <a:bodyPr>
            <a:normAutofit fontScale="85000" lnSpcReduction="10000"/>
          </a:bodyPr>
          <a:lstStyle/>
          <a:p>
            <a:pPr>
              <a:buFont typeface="Wingdings" panose="05000000000000000000" pitchFamily="2" charset="2"/>
              <a:buChar char="v"/>
            </a:pPr>
            <a:r>
              <a:rPr lang="en-IN" dirty="0"/>
              <a:t> Most tickets received the highest satisfaction score of 5 (50,770), indicating a very positive customer experience.</a:t>
            </a:r>
          </a:p>
          <a:p>
            <a:pPr>
              <a:buFont typeface="Wingdings" panose="05000000000000000000" pitchFamily="2" charset="2"/>
              <a:buChar char="v"/>
            </a:pPr>
            <a:r>
              <a:rPr lang="en-IN" dirty="0"/>
              <a:t> Score 4 is the second most common (27,562), showing that most users were satisfied with the support.</a:t>
            </a:r>
          </a:p>
          <a:p>
            <a:pPr>
              <a:buFont typeface="Wingdings" panose="05000000000000000000" pitchFamily="2" charset="2"/>
              <a:buChar char="v"/>
            </a:pPr>
            <a:r>
              <a:rPr lang="en-IN" dirty="0"/>
              <a:t> Very few tickets received a score of 2 (1,977), indicating a low number of dissatisfied customers.</a:t>
            </a:r>
          </a:p>
          <a:p>
            <a:pPr>
              <a:buFont typeface="Wingdings" panose="05000000000000000000" pitchFamily="2" charset="2"/>
              <a:buChar char="v"/>
            </a:pPr>
            <a:r>
              <a:rPr lang="en-IN" dirty="0"/>
              <a:t> Overall, the satisfaction ratings are heavily concentrated on scores 4 and 5, reflecting strong IT support performance.</a:t>
            </a:r>
          </a:p>
        </p:txBody>
      </p:sp>
      <p:graphicFrame>
        <p:nvGraphicFramePr>
          <p:cNvPr id="8" name="Content Placeholder 7">
            <a:extLst>
              <a:ext uri="{FF2B5EF4-FFF2-40B4-BE49-F238E27FC236}">
                <a16:creationId xmlns:a16="http://schemas.microsoft.com/office/drawing/2014/main" id="{F80E0280-449D-4F24-8D22-B10D81E5593B}"/>
              </a:ext>
            </a:extLst>
          </p:cNvPr>
          <p:cNvGraphicFramePr>
            <a:graphicFrameLocks noGrp="1"/>
          </p:cNvGraphicFramePr>
          <p:nvPr>
            <p:ph sz="half" idx="2"/>
            <p:extLst>
              <p:ext uri="{D42A27DB-BD31-4B8C-83A1-F6EECF244321}">
                <p14:modId xmlns:p14="http://schemas.microsoft.com/office/powerpoint/2010/main" val="2655685247"/>
              </p:ext>
            </p:extLst>
          </p:nvPr>
        </p:nvGraphicFramePr>
        <p:xfrm>
          <a:off x="6516688" y="2120900"/>
          <a:ext cx="4638675" cy="3748088"/>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0DBE6096-5921-6FB3-8376-0265A4E94412}"/>
              </a:ext>
            </a:extLst>
          </p:cNvPr>
          <p:cNvSpPr txBox="1"/>
          <p:nvPr/>
        </p:nvSpPr>
        <p:spPr>
          <a:xfrm>
            <a:off x="8200103" y="3805083"/>
            <a:ext cx="907556" cy="646331"/>
          </a:xfrm>
          <a:prstGeom prst="rect">
            <a:avLst/>
          </a:prstGeom>
          <a:noFill/>
        </p:spPr>
        <p:txBody>
          <a:bodyPr wrap="none" rtlCol="0">
            <a:spAutoFit/>
          </a:bodyPr>
          <a:lstStyle/>
          <a:p>
            <a:pPr algn="ctr"/>
            <a:r>
              <a:rPr lang="en-US" dirty="0"/>
              <a:t>Total</a:t>
            </a:r>
          </a:p>
          <a:p>
            <a:pPr algn="ctr"/>
            <a:r>
              <a:rPr lang="en-US" dirty="0"/>
              <a:t>97,498</a:t>
            </a:r>
            <a:endParaRPr lang="en-IN" dirty="0"/>
          </a:p>
        </p:txBody>
      </p:sp>
    </p:spTree>
    <p:extLst>
      <p:ext uri="{BB962C8B-B14F-4D97-AF65-F5344CB8AC3E}">
        <p14:creationId xmlns:p14="http://schemas.microsoft.com/office/powerpoint/2010/main" val="1196628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90DBD-829F-0CED-8080-B4228CF797A9}"/>
              </a:ext>
            </a:extLst>
          </p:cNvPr>
          <p:cNvSpPr>
            <a:spLocks noGrp="1"/>
          </p:cNvSpPr>
          <p:nvPr>
            <p:ph type="title"/>
          </p:nvPr>
        </p:nvSpPr>
        <p:spPr/>
        <p:txBody>
          <a:bodyPr/>
          <a:lstStyle/>
          <a:p>
            <a:r>
              <a:rPr lang="en-US" dirty="0"/>
              <a:t>Tickets by Resolution Time</a:t>
            </a:r>
            <a:endParaRPr lang="en-IN" dirty="0"/>
          </a:p>
        </p:txBody>
      </p:sp>
      <p:sp>
        <p:nvSpPr>
          <p:cNvPr id="3" name="Content Placeholder 2">
            <a:extLst>
              <a:ext uri="{FF2B5EF4-FFF2-40B4-BE49-F238E27FC236}">
                <a16:creationId xmlns:a16="http://schemas.microsoft.com/office/drawing/2014/main" id="{58E7FF38-A905-1E07-D618-33C35BE9CDA1}"/>
              </a:ext>
            </a:extLst>
          </p:cNvPr>
          <p:cNvSpPr>
            <a:spLocks noGrp="1"/>
          </p:cNvSpPr>
          <p:nvPr>
            <p:ph sz="half" idx="1"/>
          </p:nvPr>
        </p:nvSpPr>
        <p:spPr/>
        <p:txBody>
          <a:bodyPr>
            <a:normAutofit fontScale="92500" lnSpcReduction="20000"/>
          </a:bodyPr>
          <a:lstStyle/>
          <a:p>
            <a:pPr>
              <a:buFont typeface="Wingdings" panose="05000000000000000000" pitchFamily="2" charset="2"/>
              <a:buChar char="Ø"/>
            </a:pPr>
            <a:r>
              <a:rPr lang="en-IN" dirty="0"/>
              <a:t> Most tickets are resolved on the same day (0 days), with 25,071 tickets, indicating a high rate of quick issue resolution.</a:t>
            </a:r>
          </a:p>
          <a:p>
            <a:pPr>
              <a:buFont typeface="Wingdings" panose="05000000000000000000" pitchFamily="2" charset="2"/>
              <a:buChar char="Ø"/>
            </a:pPr>
            <a:r>
              <a:rPr lang="en-IN" dirty="0"/>
              <a:t> Ticket volume decreases as resolution time increases, showing that only a small number of issues require longer resolution periods.</a:t>
            </a:r>
          </a:p>
          <a:p>
            <a:pPr>
              <a:buFont typeface="Wingdings" panose="05000000000000000000" pitchFamily="2" charset="2"/>
              <a:buChar char="Ø"/>
            </a:pPr>
            <a:r>
              <a:rPr lang="en-IN" dirty="0"/>
              <a:t> Most tickets are resolved within 10 days, reflecting an efficient IT support process.</a:t>
            </a:r>
          </a:p>
          <a:p>
            <a:pPr>
              <a:buFont typeface="Wingdings" panose="05000000000000000000" pitchFamily="2" charset="2"/>
              <a:buChar char="Ø"/>
            </a:pPr>
            <a:r>
              <a:rPr lang="en-IN" dirty="0"/>
              <a:t> Very few tickets take more than 15 days to resolve, indicating that long-pending cases are rare.</a:t>
            </a:r>
          </a:p>
        </p:txBody>
      </p:sp>
      <p:graphicFrame>
        <p:nvGraphicFramePr>
          <p:cNvPr id="7" name="Content Placeholder 6">
            <a:extLst>
              <a:ext uri="{FF2B5EF4-FFF2-40B4-BE49-F238E27FC236}">
                <a16:creationId xmlns:a16="http://schemas.microsoft.com/office/drawing/2014/main" id="{4793840C-8955-489C-9AC5-B351FE8F984C}"/>
              </a:ext>
            </a:extLst>
          </p:cNvPr>
          <p:cNvGraphicFramePr>
            <a:graphicFrameLocks noGrp="1"/>
          </p:cNvGraphicFramePr>
          <p:nvPr>
            <p:ph sz="half" idx="2"/>
          </p:nvPr>
        </p:nvGraphicFramePr>
        <p:xfrm>
          <a:off x="6516688" y="2120900"/>
          <a:ext cx="4638675" cy="37480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89412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8E8F3-D8A5-8241-C26D-D48D88C53DB1}"/>
              </a:ext>
            </a:extLst>
          </p:cNvPr>
          <p:cNvSpPr>
            <a:spLocks noGrp="1"/>
          </p:cNvSpPr>
          <p:nvPr>
            <p:ph type="title"/>
          </p:nvPr>
        </p:nvSpPr>
        <p:spPr/>
        <p:txBody>
          <a:bodyPr>
            <a:noAutofit/>
          </a:bodyPr>
          <a:lstStyle/>
          <a:p>
            <a:r>
              <a:rPr lang="en-GB" sz="3200" b="1" dirty="0"/>
              <a:t>Tickets by Severity</a:t>
            </a:r>
            <a:endParaRPr lang="en-IN" sz="3200" dirty="0"/>
          </a:p>
        </p:txBody>
      </p:sp>
      <p:sp>
        <p:nvSpPr>
          <p:cNvPr id="8" name="Content Placeholder 7">
            <a:extLst>
              <a:ext uri="{FF2B5EF4-FFF2-40B4-BE49-F238E27FC236}">
                <a16:creationId xmlns:a16="http://schemas.microsoft.com/office/drawing/2014/main" id="{287D8A4E-5A70-7432-D867-4C161F2AAA03}"/>
              </a:ext>
            </a:extLst>
          </p:cNvPr>
          <p:cNvSpPr>
            <a:spLocks noGrp="1"/>
          </p:cNvSpPr>
          <p:nvPr>
            <p:ph sz="half" idx="1"/>
          </p:nvPr>
        </p:nvSpPr>
        <p:spPr/>
        <p:txBody>
          <a:bodyPr>
            <a:normAutofit fontScale="85000" lnSpcReduction="10000"/>
          </a:bodyPr>
          <a:lstStyle/>
          <a:p>
            <a:pPr>
              <a:buFont typeface="Wingdings" panose="05000000000000000000" pitchFamily="2" charset="2"/>
              <a:buChar char="Ø"/>
            </a:pPr>
            <a:r>
              <a:rPr lang="en-IN" dirty="0"/>
              <a:t> Normal severity tickets dominate with 88,656 tickets, indicating that most issues are routine and non-critical.</a:t>
            </a:r>
          </a:p>
          <a:p>
            <a:pPr>
              <a:buFont typeface="Wingdings" panose="05000000000000000000" pitchFamily="2" charset="2"/>
              <a:buChar char="Ø"/>
            </a:pPr>
            <a:r>
              <a:rPr lang="en-IN" dirty="0"/>
              <a:t> Major severity tickets (4,836) are significantly fewer than normal tickets, showing that high-impact issues are relatively uncommon.</a:t>
            </a:r>
          </a:p>
          <a:p>
            <a:pPr>
              <a:buFont typeface="Wingdings" panose="05000000000000000000" pitchFamily="2" charset="2"/>
              <a:buChar char="Ø"/>
            </a:pPr>
            <a:r>
              <a:rPr lang="en-IN" dirty="0"/>
              <a:t> Minor severity tickets account for 2,258, while Urgent tickets are only 1,392, indicating that critical incidents occur infrequently.</a:t>
            </a:r>
          </a:p>
          <a:p>
            <a:pPr>
              <a:buFont typeface="Wingdings" panose="05000000000000000000" pitchFamily="2" charset="2"/>
              <a:buChar char="Ø"/>
            </a:pPr>
            <a:r>
              <a:rPr lang="en-IN" dirty="0"/>
              <a:t> Unclassified tickets are minimal (356), suggesting that most tickets are properly categorized.</a:t>
            </a:r>
          </a:p>
        </p:txBody>
      </p:sp>
      <p:graphicFrame>
        <p:nvGraphicFramePr>
          <p:cNvPr id="9" name="Content Placeholder 8">
            <a:extLst>
              <a:ext uri="{FF2B5EF4-FFF2-40B4-BE49-F238E27FC236}">
                <a16:creationId xmlns:a16="http://schemas.microsoft.com/office/drawing/2014/main" id="{0D2D23E6-7FBC-49AF-8EFF-75DC0484F030}"/>
              </a:ext>
            </a:extLst>
          </p:cNvPr>
          <p:cNvGraphicFramePr>
            <a:graphicFrameLocks noGrp="1"/>
          </p:cNvGraphicFramePr>
          <p:nvPr>
            <p:ph sz="half" idx="2"/>
          </p:nvPr>
        </p:nvGraphicFramePr>
        <p:xfrm>
          <a:off x="6516688" y="2120900"/>
          <a:ext cx="4638675" cy="37480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13990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F46E3-2E99-151E-DD7B-898E6557F860}"/>
              </a:ext>
            </a:extLst>
          </p:cNvPr>
          <p:cNvSpPr>
            <a:spLocks noGrp="1"/>
          </p:cNvSpPr>
          <p:nvPr>
            <p:ph type="title"/>
          </p:nvPr>
        </p:nvSpPr>
        <p:spPr/>
        <p:txBody>
          <a:bodyPr/>
          <a:lstStyle/>
          <a:p>
            <a:r>
              <a:rPr lang="en-US" dirty="0"/>
              <a:t>Category &amp; Quarter wise Resolution time</a:t>
            </a:r>
            <a:endParaRPr lang="en-IN" dirty="0"/>
          </a:p>
        </p:txBody>
      </p:sp>
      <p:sp>
        <p:nvSpPr>
          <p:cNvPr id="3" name="Content Placeholder 2">
            <a:extLst>
              <a:ext uri="{FF2B5EF4-FFF2-40B4-BE49-F238E27FC236}">
                <a16:creationId xmlns:a16="http://schemas.microsoft.com/office/drawing/2014/main" id="{AC52C249-2CE1-D635-75C9-C37FF7AD3597}"/>
              </a:ext>
            </a:extLst>
          </p:cNvPr>
          <p:cNvSpPr>
            <a:spLocks noGrp="1"/>
          </p:cNvSpPr>
          <p:nvPr>
            <p:ph sz="half" idx="1"/>
          </p:nvPr>
        </p:nvSpPr>
        <p:spPr>
          <a:xfrm>
            <a:off x="1097280" y="2120900"/>
            <a:ext cx="4639736" cy="3945603"/>
          </a:xfrm>
        </p:spPr>
        <p:txBody>
          <a:bodyPr>
            <a:normAutofit lnSpcReduction="10000"/>
          </a:bodyPr>
          <a:lstStyle/>
          <a:p>
            <a:pPr>
              <a:buFont typeface="Wingdings" panose="05000000000000000000" pitchFamily="2" charset="2"/>
              <a:buChar char="§"/>
            </a:pPr>
            <a:r>
              <a:rPr lang="en-IN" sz="1600" dirty="0"/>
              <a:t> Hardware tickets have the highest resolution time (7.5–7.7 days) across all quarters, making them the most time-consuming category.</a:t>
            </a:r>
          </a:p>
          <a:p>
            <a:pPr>
              <a:buFont typeface="Wingdings" panose="05000000000000000000" pitchFamily="2" charset="2"/>
              <a:buChar char="§"/>
            </a:pPr>
            <a:r>
              <a:rPr lang="en-IN" sz="1600" dirty="0"/>
              <a:t> Login Access tickets are resolved the fastest (around 0.31 days), showing a highly efficient resolution process.</a:t>
            </a:r>
          </a:p>
          <a:p>
            <a:pPr>
              <a:buFont typeface="Wingdings" panose="05000000000000000000" pitchFamily="2" charset="2"/>
              <a:buChar char="§"/>
            </a:pPr>
            <a:r>
              <a:rPr lang="en-IN" sz="1600" dirty="0"/>
              <a:t> Software and System tickets maintain consistent resolution times of around 5.2 days and 6.6 days, respectively, across all quarters.</a:t>
            </a:r>
          </a:p>
          <a:p>
            <a:pPr>
              <a:buFont typeface="Wingdings" panose="05000000000000000000" pitchFamily="2" charset="2"/>
              <a:buChar char="§"/>
            </a:pPr>
            <a:r>
              <a:rPr lang="en-IN" sz="1600" dirty="0"/>
              <a:t> Resolution time remains stable across all four quarters for every request category, indicating consistent IT support performance throughout the year.</a:t>
            </a:r>
          </a:p>
        </p:txBody>
      </p:sp>
      <p:graphicFrame>
        <p:nvGraphicFramePr>
          <p:cNvPr id="8" name="Content Placeholder 7">
            <a:extLst>
              <a:ext uri="{FF2B5EF4-FFF2-40B4-BE49-F238E27FC236}">
                <a16:creationId xmlns:a16="http://schemas.microsoft.com/office/drawing/2014/main" id="{C617CA3B-65B6-4469-AA92-ABB4C0BBCDFF}"/>
              </a:ext>
            </a:extLst>
          </p:cNvPr>
          <p:cNvGraphicFramePr>
            <a:graphicFrameLocks noGrp="1"/>
          </p:cNvGraphicFramePr>
          <p:nvPr>
            <p:ph sz="half" idx="2"/>
          </p:nvPr>
        </p:nvGraphicFramePr>
        <p:xfrm>
          <a:off x="6516688" y="2120900"/>
          <a:ext cx="4638675" cy="37480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8061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A6B15D2-5BE7-F230-AB37-8A5B9CAD86AC}"/>
              </a:ext>
            </a:extLst>
          </p:cNvPr>
          <p:cNvSpPr>
            <a:spLocks noGrp="1"/>
          </p:cNvSpPr>
          <p:nvPr>
            <p:ph type="title"/>
          </p:nvPr>
        </p:nvSpPr>
        <p:spPr/>
        <p:txBody>
          <a:bodyPr/>
          <a:lstStyle/>
          <a:p>
            <a:r>
              <a:rPr lang="en-US" dirty="0"/>
              <a:t>Satisfaction rate Months &amp; Year wise</a:t>
            </a:r>
            <a:endParaRPr lang="en-IN" dirty="0"/>
          </a:p>
        </p:txBody>
      </p:sp>
      <p:graphicFrame>
        <p:nvGraphicFramePr>
          <p:cNvPr id="12" name="Content Placeholder 11">
            <a:extLst>
              <a:ext uri="{FF2B5EF4-FFF2-40B4-BE49-F238E27FC236}">
                <a16:creationId xmlns:a16="http://schemas.microsoft.com/office/drawing/2014/main" id="{D1DE22E8-9140-4F4B-80D4-8CD5A1ED7C7C}"/>
              </a:ext>
            </a:extLst>
          </p:cNvPr>
          <p:cNvGraphicFramePr>
            <a:graphicFrameLocks noGrp="1"/>
          </p:cNvGraphicFramePr>
          <p:nvPr>
            <p:ph idx="1"/>
            <p:extLst>
              <p:ext uri="{D42A27DB-BD31-4B8C-83A1-F6EECF244321}">
                <p14:modId xmlns:p14="http://schemas.microsoft.com/office/powerpoint/2010/main" val="2867441843"/>
              </p:ext>
            </p:extLst>
          </p:nvPr>
        </p:nvGraphicFramePr>
        <p:xfrm>
          <a:off x="462116" y="2108200"/>
          <a:ext cx="11533239" cy="37607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76788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BDD51-53A8-D967-75F6-07D25674A5C9}"/>
              </a:ext>
            </a:extLst>
          </p:cNvPr>
          <p:cNvSpPr>
            <a:spLocks noGrp="1"/>
          </p:cNvSpPr>
          <p:nvPr>
            <p:ph type="title"/>
          </p:nvPr>
        </p:nvSpPr>
        <p:spPr/>
        <p:txBody>
          <a:bodyPr/>
          <a:lstStyle/>
          <a:p>
            <a:r>
              <a:rPr lang="en-US" dirty="0"/>
              <a:t>Insight</a:t>
            </a:r>
            <a:endParaRPr lang="en-IN" dirty="0"/>
          </a:p>
        </p:txBody>
      </p:sp>
      <p:sp>
        <p:nvSpPr>
          <p:cNvPr id="5" name="Content Placeholder 4">
            <a:extLst>
              <a:ext uri="{FF2B5EF4-FFF2-40B4-BE49-F238E27FC236}">
                <a16:creationId xmlns:a16="http://schemas.microsoft.com/office/drawing/2014/main" id="{4F32A15B-F688-F8E8-8042-DD6BB11DF6AF}"/>
              </a:ext>
            </a:extLst>
          </p:cNvPr>
          <p:cNvSpPr>
            <a:spLocks noGrp="1"/>
          </p:cNvSpPr>
          <p:nvPr>
            <p:ph idx="1"/>
          </p:nvPr>
        </p:nvSpPr>
        <p:spPr/>
        <p:txBody>
          <a:bodyPr>
            <a:normAutofit/>
          </a:bodyPr>
          <a:lstStyle/>
          <a:p>
            <a:pPr>
              <a:buFont typeface="Wingdings" panose="05000000000000000000" pitchFamily="2" charset="2"/>
              <a:buChar char="v"/>
            </a:pPr>
            <a:r>
              <a:rPr lang="en-IN" dirty="0"/>
              <a:t> Customer satisfaction shows a steady upward trend, improving from 3.96 in early 2016 to around 4.16 by the end of 2020.</a:t>
            </a:r>
          </a:p>
          <a:p>
            <a:pPr>
              <a:buFont typeface="Wingdings" panose="05000000000000000000" pitchFamily="2" charset="2"/>
              <a:buChar char="v"/>
            </a:pPr>
            <a:r>
              <a:rPr lang="en-IN" dirty="0"/>
              <a:t> The highest satisfaction score (4.27) was recorded in July 2020, indicating peak customer satisfaction.</a:t>
            </a:r>
          </a:p>
          <a:p>
            <a:pPr>
              <a:buFont typeface="Wingdings" panose="05000000000000000000" pitchFamily="2" charset="2"/>
              <a:buChar char="v"/>
            </a:pPr>
            <a:r>
              <a:rPr lang="en-IN" dirty="0"/>
              <a:t> Customer satisfaction consistently remained above 4.0 from 2017 onwards, reflecting sustained improvement in service quality.</a:t>
            </a:r>
          </a:p>
          <a:p>
            <a:pPr>
              <a:buFont typeface="Wingdings" panose="05000000000000000000" pitchFamily="2" charset="2"/>
              <a:buChar char="v"/>
            </a:pPr>
            <a:r>
              <a:rPr lang="en-IN" dirty="0"/>
              <a:t> Although there are minor monthly fluctuations, the overall trend remains stable and positive, showing consistent IT support performance over the years.</a:t>
            </a:r>
          </a:p>
        </p:txBody>
      </p:sp>
    </p:spTree>
    <p:extLst>
      <p:ext uri="{BB962C8B-B14F-4D97-AF65-F5344CB8AC3E}">
        <p14:creationId xmlns:p14="http://schemas.microsoft.com/office/powerpoint/2010/main" val="1186346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11E66-4396-7DBF-63D9-9DD89DE4000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41F3FAF-C8A1-BE9E-CAE0-C89F66908BC8}"/>
              </a:ext>
            </a:extLst>
          </p:cNvPr>
          <p:cNvSpPr>
            <a:spLocks noGrp="1"/>
          </p:cNvSpPr>
          <p:nvPr>
            <p:ph type="title"/>
          </p:nvPr>
        </p:nvSpPr>
        <p:spPr/>
        <p:txBody>
          <a:bodyPr/>
          <a:lstStyle/>
          <a:p>
            <a:r>
              <a:rPr lang="en-US" dirty="0"/>
              <a:t>Tickets by Months &amp; Year wise</a:t>
            </a:r>
            <a:endParaRPr lang="en-IN" dirty="0"/>
          </a:p>
        </p:txBody>
      </p:sp>
      <p:graphicFrame>
        <p:nvGraphicFramePr>
          <p:cNvPr id="5" name="Content Placeholder 4">
            <a:extLst>
              <a:ext uri="{FF2B5EF4-FFF2-40B4-BE49-F238E27FC236}">
                <a16:creationId xmlns:a16="http://schemas.microsoft.com/office/drawing/2014/main" id="{264E84D9-C82B-411E-A84A-C1DBF0C5087A}"/>
              </a:ext>
            </a:extLst>
          </p:cNvPr>
          <p:cNvGraphicFramePr>
            <a:graphicFrameLocks noGrp="1"/>
          </p:cNvGraphicFramePr>
          <p:nvPr>
            <p:ph idx="1"/>
            <p:extLst>
              <p:ext uri="{D42A27DB-BD31-4B8C-83A1-F6EECF244321}">
                <p14:modId xmlns:p14="http://schemas.microsoft.com/office/powerpoint/2010/main" val="1546616854"/>
              </p:ext>
            </p:extLst>
          </p:nvPr>
        </p:nvGraphicFramePr>
        <p:xfrm>
          <a:off x="285135" y="2108200"/>
          <a:ext cx="11641394" cy="37607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41836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0482C-DD9C-D0E2-7AC9-EFBD8FF4E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22EE3-DDAB-5D2C-BC5D-0E03589FA268}"/>
              </a:ext>
            </a:extLst>
          </p:cNvPr>
          <p:cNvSpPr>
            <a:spLocks noGrp="1"/>
          </p:cNvSpPr>
          <p:nvPr>
            <p:ph type="title"/>
          </p:nvPr>
        </p:nvSpPr>
        <p:spPr/>
        <p:txBody>
          <a:bodyPr/>
          <a:lstStyle/>
          <a:p>
            <a:r>
              <a:rPr lang="en-US" dirty="0"/>
              <a:t>Insight</a:t>
            </a:r>
            <a:endParaRPr lang="en-IN" dirty="0"/>
          </a:p>
        </p:txBody>
      </p:sp>
      <p:sp>
        <p:nvSpPr>
          <p:cNvPr id="5" name="Content Placeholder 4">
            <a:extLst>
              <a:ext uri="{FF2B5EF4-FFF2-40B4-BE49-F238E27FC236}">
                <a16:creationId xmlns:a16="http://schemas.microsoft.com/office/drawing/2014/main" id="{085BBF6E-134C-040E-2988-5AC47E3E7950}"/>
              </a:ext>
            </a:extLst>
          </p:cNvPr>
          <p:cNvSpPr>
            <a:spLocks noGrp="1"/>
          </p:cNvSpPr>
          <p:nvPr>
            <p:ph idx="1"/>
          </p:nvPr>
        </p:nvSpPr>
        <p:spPr/>
        <p:txBody>
          <a:bodyPr>
            <a:normAutofit/>
          </a:bodyPr>
          <a:lstStyle/>
          <a:p>
            <a:pPr>
              <a:buFont typeface="Wingdings" panose="05000000000000000000" pitchFamily="2" charset="2"/>
              <a:buChar char="Ø"/>
            </a:pPr>
            <a:r>
              <a:rPr lang="en-IN" dirty="0"/>
              <a:t> Ticket volume shows a steady year-over-year increase, rising from around 1,100 tickets in 2016 to over 2,600 tickets by the end of 2020.</a:t>
            </a:r>
          </a:p>
          <a:p>
            <a:pPr>
              <a:buFont typeface="Wingdings" panose="05000000000000000000" pitchFamily="2" charset="2"/>
              <a:buChar char="Ø"/>
            </a:pPr>
            <a:r>
              <a:rPr lang="en-IN" dirty="0"/>
              <a:t> The highest ticket count (2,609) was recorded in December 2020, indicating the peak workload during the analysis period.</a:t>
            </a:r>
          </a:p>
          <a:p>
            <a:pPr>
              <a:buFont typeface="Wingdings" panose="05000000000000000000" pitchFamily="2" charset="2"/>
              <a:buChar char="Ø"/>
            </a:pPr>
            <a:r>
              <a:rPr lang="en-IN" dirty="0"/>
              <a:t> Despite minor monthly fluctuations, the overall trend is consistently upward, reflecting growing demand for IT support.</a:t>
            </a:r>
          </a:p>
          <a:p>
            <a:pPr>
              <a:buFont typeface="Wingdings" panose="05000000000000000000" pitchFamily="2" charset="2"/>
              <a:buChar char="Ø"/>
            </a:pPr>
            <a:r>
              <a:rPr lang="en-IN" dirty="0"/>
              <a:t> The sharp increase in ticket volume during 2020 suggests increased system usage while the support team continued to manage the higher workload effectively.</a:t>
            </a:r>
          </a:p>
        </p:txBody>
      </p:sp>
    </p:spTree>
    <p:extLst>
      <p:ext uri="{BB962C8B-B14F-4D97-AF65-F5344CB8AC3E}">
        <p14:creationId xmlns:p14="http://schemas.microsoft.com/office/powerpoint/2010/main" val="1226054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FD00E-4C68-50D1-09B3-0B6BC75ACA68}"/>
              </a:ext>
            </a:extLst>
          </p:cNvPr>
          <p:cNvSpPr>
            <a:spLocks noGrp="1"/>
          </p:cNvSpPr>
          <p:nvPr>
            <p:ph type="title"/>
          </p:nvPr>
        </p:nvSpPr>
        <p:spPr/>
        <p:txBody>
          <a:bodyPr/>
          <a:lstStyle/>
          <a:p>
            <a:r>
              <a:rPr lang="en-US" dirty="0"/>
              <a:t>Dashboard</a:t>
            </a:r>
            <a:endParaRPr lang="en-IN" dirty="0"/>
          </a:p>
        </p:txBody>
      </p:sp>
      <p:pic>
        <p:nvPicPr>
          <p:cNvPr id="3" name="Content Placeholder 2">
            <a:extLst>
              <a:ext uri="{FF2B5EF4-FFF2-40B4-BE49-F238E27FC236}">
                <a16:creationId xmlns:a16="http://schemas.microsoft.com/office/drawing/2014/main" id="{1DF41635-F868-CB5B-F103-AFB4679BD6E1}"/>
              </a:ext>
            </a:extLst>
          </p:cNvPr>
          <p:cNvPicPr>
            <a:picLocks noGrp="1" noChangeAspect="1"/>
          </p:cNvPicPr>
          <p:nvPr>
            <p:ph idx="1"/>
          </p:nvPr>
        </p:nvPicPr>
        <p:blipFill>
          <a:blip r:embed="rId2"/>
          <a:stretch>
            <a:fillRect/>
          </a:stretch>
        </p:blipFill>
        <p:spPr>
          <a:xfrm>
            <a:off x="599768" y="2110642"/>
            <a:ext cx="11139948" cy="3755904"/>
          </a:xfrm>
          <a:prstGeom prst="rect">
            <a:avLst/>
          </a:prstGeom>
        </p:spPr>
      </p:pic>
    </p:spTree>
    <p:extLst>
      <p:ext uri="{BB962C8B-B14F-4D97-AF65-F5344CB8AC3E}">
        <p14:creationId xmlns:p14="http://schemas.microsoft.com/office/powerpoint/2010/main" val="1321576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41588-6C1C-8136-5542-6A06A8A8A4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C065D0-5DC1-306C-FE0F-40122E15674B}"/>
              </a:ext>
            </a:extLst>
          </p:cNvPr>
          <p:cNvSpPr>
            <a:spLocks noGrp="1"/>
          </p:cNvSpPr>
          <p:nvPr>
            <p:ph type="title"/>
          </p:nvPr>
        </p:nvSpPr>
        <p:spPr/>
        <p:txBody>
          <a:bodyPr/>
          <a:lstStyle/>
          <a:p>
            <a:r>
              <a:rPr lang="en-US" dirty="0"/>
              <a:t>Recommendation.</a:t>
            </a:r>
            <a:endParaRPr lang="en-IN" dirty="0"/>
          </a:p>
        </p:txBody>
      </p:sp>
      <p:sp>
        <p:nvSpPr>
          <p:cNvPr id="5" name="Content Placeholder 4">
            <a:extLst>
              <a:ext uri="{FF2B5EF4-FFF2-40B4-BE49-F238E27FC236}">
                <a16:creationId xmlns:a16="http://schemas.microsoft.com/office/drawing/2014/main" id="{1B3A3D53-FA53-DADE-0748-41EED7099A54}"/>
              </a:ext>
            </a:extLst>
          </p:cNvPr>
          <p:cNvSpPr>
            <a:spLocks noGrp="1"/>
          </p:cNvSpPr>
          <p:nvPr>
            <p:ph idx="1"/>
          </p:nvPr>
        </p:nvSpPr>
        <p:spPr/>
        <p:txBody>
          <a:bodyPr>
            <a:normAutofit lnSpcReduction="10000"/>
          </a:bodyPr>
          <a:lstStyle/>
          <a:p>
            <a:pPr marL="0" indent="0">
              <a:buNone/>
            </a:pPr>
            <a:r>
              <a:rPr lang="en-IN" dirty="0"/>
              <a:t>Focus on reducing system-related tickets, as they account for the largest share of requests. Investigate the root causes and implement preventive maintenance to minimize recurring issues.</a:t>
            </a:r>
          </a:p>
          <a:p>
            <a:pPr marL="0" indent="0">
              <a:buNone/>
            </a:pPr>
            <a:r>
              <a:rPr lang="en-IN" dirty="0"/>
              <a:t>Provide targeted training to IT agents handling hardware and system-related requests, as these categories have the highest average resolution time. At the same time, recognize and reward high-performing agents to encourage consistent performance.</a:t>
            </a:r>
          </a:p>
          <a:p>
            <a:pPr marL="0" indent="0">
              <a:buNone/>
            </a:pPr>
            <a:r>
              <a:rPr lang="en-IN" dirty="0"/>
              <a:t>Improve the support experience for the 34–38 age group, which has the lowest customer satisfaction, by collecting feedback and identifying the reasons behind their lower ratings.</a:t>
            </a:r>
          </a:p>
          <a:p>
            <a:pPr marL="0" indent="0">
              <a:buNone/>
            </a:pPr>
            <a:r>
              <a:rPr lang="en-IN" dirty="0"/>
              <a:t>As ticket volume has increased significantly over the years, hire additional IT support staff or optimize workload distribution to maintain quick resolution times and high customer satisfaction as demand continues to grow.</a:t>
            </a:r>
          </a:p>
        </p:txBody>
      </p:sp>
    </p:spTree>
    <p:extLst>
      <p:ext uri="{BB962C8B-B14F-4D97-AF65-F5344CB8AC3E}">
        <p14:creationId xmlns:p14="http://schemas.microsoft.com/office/powerpoint/2010/main" val="3106236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FC151-DDEB-7325-4E33-BBA2EF8F14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A0F4C1-EC96-3556-43F3-4426395EE79B}"/>
              </a:ext>
            </a:extLst>
          </p:cNvPr>
          <p:cNvSpPr>
            <a:spLocks noGrp="1"/>
          </p:cNvSpPr>
          <p:nvPr>
            <p:ph type="title"/>
          </p:nvPr>
        </p:nvSpPr>
        <p:spPr/>
        <p:txBody>
          <a:bodyPr/>
          <a:lstStyle/>
          <a:p>
            <a:r>
              <a:rPr lang="en-IN" b="1" dirty="0"/>
              <a:t>Conclusion.</a:t>
            </a:r>
            <a:endParaRPr lang="en-IN" dirty="0"/>
          </a:p>
        </p:txBody>
      </p:sp>
      <p:sp>
        <p:nvSpPr>
          <p:cNvPr id="5" name="Content Placeholder 4">
            <a:extLst>
              <a:ext uri="{FF2B5EF4-FFF2-40B4-BE49-F238E27FC236}">
                <a16:creationId xmlns:a16="http://schemas.microsoft.com/office/drawing/2014/main" id="{CA7F99C2-4F72-0123-C05E-FBDED54938F8}"/>
              </a:ext>
            </a:extLst>
          </p:cNvPr>
          <p:cNvSpPr>
            <a:spLocks noGrp="1"/>
          </p:cNvSpPr>
          <p:nvPr>
            <p:ph idx="1"/>
          </p:nvPr>
        </p:nvSpPr>
        <p:spPr/>
        <p:txBody>
          <a:bodyPr>
            <a:normAutofit/>
          </a:bodyPr>
          <a:lstStyle/>
          <a:p>
            <a:pPr algn="just"/>
            <a:r>
              <a:rPr lang="en-IN" sz="2400" dirty="0"/>
              <a:t>The analysis shows that the IT support team has maintained strong overall performance despite a continuous increase in ticket volume. Most tickets are resolved quickly, customer satisfaction has steadily improved over the years, and the majority of employees rate the service highly. While system-related requests and hardware issues require additional attention due to their higher volume and longer resolution time, the overall ticket management process is effective. With targeted training, better resource allocation, and strategic hiring based on workload, the organization can further improve service quality, increase customer satisfaction, and enhance overall team performance.</a:t>
            </a:r>
          </a:p>
        </p:txBody>
      </p:sp>
    </p:spTree>
    <p:extLst>
      <p:ext uri="{BB962C8B-B14F-4D97-AF65-F5344CB8AC3E}">
        <p14:creationId xmlns:p14="http://schemas.microsoft.com/office/powerpoint/2010/main" val="1171488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ctrTitle"/>
          </p:nvPr>
        </p:nvSpPr>
        <p:spPr/>
        <p:txBody>
          <a:bodyPr>
            <a:normAutofit/>
          </a:bodyPr>
          <a:lstStyle/>
          <a:p>
            <a:r>
              <a:rPr lang="en-US" dirty="0"/>
              <a:t>Thank You!!</a:t>
            </a:r>
          </a:p>
        </p:txBody>
      </p:sp>
      <p:sp>
        <p:nvSpPr>
          <p:cNvPr id="3" name="Subtitle 2">
            <a:extLst>
              <a:ext uri="{FF2B5EF4-FFF2-40B4-BE49-F238E27FC236}">
                <a16:creationId xmlns:a16="http://schemas.microsoft.com/office/drawing/2014/main" id="{056D2EB0-DF38-A17B-5826-74F27C78EF8B}"/>
              </a:ext>
            </a:extLst>
          </p:cNvPr>
          <p:cNvSpPr>
            <a:spLocks noGrp="1"/>
          </p:cNvSpPr>
          <p:nvPr>
            <p:ph type="subTitle" idx="1"/>
          </p:nvPr>
        </p:nvSpPr>
        <p:spPr/>
        <p:txBody>
          <a:bodyPr/>
          <a:lstStyle/>
          <a:p>
            <a:r>
              <a:rPr lang="en-US" dirty="0"/>
              <a:t>…Vivek Dubey</a:t>
            </a:r>
            <a:endParaRPr lang="en-IN" dirty="0"/>
          </a:p>
        </p:txBody>
      </p:sp>
    </p:spTree>
    <p:extLst>
      <p:ext uri="{BB962C8B-B14F-4D97-AF65-F5344CB8AC3E}">
        <p14:creationId xmlns:p14="http://schemas.microsoft.com/office/powerpoint/2010/main" val="265522590"/>
      </p:ext>
    </p:extLst>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2.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1F006B4-A9E1-4F39-85C8-FB836F919348}">
  <ds:schemaRefs>
    <ds:schemaRef ds:uri="http://schemas.microsoft.com/sharepoint/v3/contenttype/forms"/>
  </ds:schemaRefs>
</ds:datastoreItem>
</file>

<file path=customXml/itemProps3.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{6BF1BB8C-7B57-4994-B32C-620589736210}TF235124e3-e6db-4c6d-93c8-733f2fadbc609fb6f57c_win32-b1e91d96f19e</Template>
  <TotalTime>261</TotalTime>
  <Words>1420</Words>
  <Application>Microsoft Office PowerPoint</Application>
  <PresentationFormat>Widescreen</PresentationFormat>
  <Paragraphs>102</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Georgia Pro Cond Light</vt:lpstr>
      <vt:lpstr>Segoe UI Semibold</vt:lpstr>
      <vt:lpstr>Speak Pro</vt:lpstr>
      <vt:lpstr>Wingdings</vt:lpstr>
      <vt:lpstr>RetrospectVTI</vt:lpstr>
      <vt:lpstr>IT Tickets</vt:lpstr>
      <vt:lpstr>Agenda</vt:lpstr>
      <vt:lpstr>Problem Statement</vt:lpstr>
      <vt:lpstr>Data Overview</vt:lpstr>
      <vt:lpstr>Methodology</vt:lpstr>
      <vt:lpstr>If there is an investment, should it be used to hire more IT agents, improve training programs, or upgrade ticket management software?</vt:lpstr>
      <vt:lpstr>Age Group wise Satisfaction.</vt:lpstr>
      <vt:lpstr>Tickets by Satisfaction Score</vt:lpstr>
      <vt:lpstr>Tickets by Resolution Time</vt:lpstr>
      <vt:lpstr>Tickets by Severity</vt:lpstr>
      <vt:lpstr>Category &amp; Quarter wise Resolution time</vt:lpstr>
      <vt:lpstr>Satisfaction rate Months &amp; Year wise</vt:lpstr>
      <vt:lpstr>Insight</vt:lpstr>
      <vt:lpstr>Tickets by Months &amp; Year wise</vt:lpstr>
      <vt:lpstr>Insight</vt:lpstr>
      <vt:lpstr>Dashboard</vt:lpstr>
      <vt:lpstr>Recommendation.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vivek dubey</dc:creator>
  <cp:lastModifiedBy>vivek dubey</cp:lastModifiedBy>
  <cp:revision>5</cp:revision>
  <dcterms:created xsi:type="dcterms:W3CDTF">2026-06-30T16:27:16Z</dcterms:created>
  <dcterms:modified xsi:type="dcterms:W3CDTF">2026-07-07T18:07:50Z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